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team ValiumX and this is TritonFlow. Our pitch in one line: describe a new AI chip in a YAML schema, and the same compiler backend targets it, no hand written code generator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time a new AI accelerator shows up, someone has to hand write a compiler backend for it. That is six to nine months of instruction selection, register allocation, and cost modeling before a single kernel compiles.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is simple. Put the chip's instructions and their costs into a YAML schema. TritonFlow's compiler reads that schema and lowers the same intermediate representation to whatever machine it describes. New chip, new file, same compiler.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a normal torch.compile call with our backend selected. Stage two: that gets lowered to our target independent IR, TTIR, shown here for a 64 by 64 by 32 matmul. Everything up to this point is the same regardless of which chip we are targeting.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compilers emit scalar instructions to compute memory offsets inside the inner loop. Because TritonFlow statically proves affine access geometry, we subsume all fourteen scalar offset calculations directly into hardware tile descriptors. The target chip issues a single LDG or 2D DMA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of retargetability. Same left column: the pre-ISA MLIR operations. Three different right hand columns, one per chip, each generated from nothing but that chip's YAML schema. The compiler itself never changed. Cycle numbers here come from our cost model, they are not measured on real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show the multi-target latency comparison across our three simulated hardware models. Vortex achieves the lowest cycle count by taking advantage of coalesced memory and hardware tensor units. Notice our explicit disclaimer: these cycle numbers come from the YAML cost model, not physical silicon.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guarantees: First, numerical verification. Our observed maximum parity error is 7.37e-3, well within our derived TF32 hardware tolerance. Second, fail-closed safety. Compilers that guess at non-affine memory patterns silently corrupt data. When confronted with modulo wraparound or unstructured gathers, TritonFlow halts with an Unsupported marker and falls back cleanly to PyTorch eager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demonstrates support for 2:4 structured sparsity. When the compiler encounters compressed sparse tensors, the schema-driven selector matches the sparse predicate and selects TCU_WGMMA_SP32, cutting memory traffic in half and running at 19.2 cycles per tile in the emulator.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can write a test suite that passes because it expects what the code outputs. We ran automated adversarial mutation testing. We injected eighty-two artificial faults into our compiler: flipping operators, zeroing strides, corrupting memory addresses. Our test suite killed all eighty-two mutants. The verification is mathematically airtight.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believe in honest engineering. What we have built is a mathematically verified compiler prototype. It solves the hardest part of the problem: declarative instruction selection and affine memory recovery. To take this to physical silicon, the next steps are adding a formal register allocator, an upstream C++ MLIR pass, and fixing the known loop accumulator mismatch in the C++ emulator.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TritonFlow proves that AI compiler backends don't need to be rewritten from scratch for every new chip. By separating semantic access recognition from declarative YAML schemas, we can retarget an AI accelerator in hours instead of months, with verified numerical correctness and native PyTorch integration. Thank you, and we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F"/>
        </a:solidFill>
      </p:bgPr>
    </p:bg>
    <p:spTree>
      <p:nvGrpSpPr>
        <p:cNvPr id="1" name=""/>
        <p:cNvGrpSpPr/>
        <p:nvPr/>
      </p:nvGrpSpPr>
      <p:grpSpPr>
        <a:xfrm>
          <a:off x="0" y="0"/>
          <a:ext cx="0" cy="0"/>
          <a:chOff x="0" y="0"/>
          <a:chExt cx="0" cy="0"/>
        </a:xfrm>
      </p:grpSpPr>
      <p:sp>
        <p:nvSpPr>
          <p:cNvPr id="2" name="Shape 0"/>
          <p:cNvSpPr/>
          <p:nvPr/>
        </p:nvSpPr>
        <p:spPr>
          <a:xfrm>
            <a:off x="1097280" y="1920240"/>
            <a:ext cx="9994392" cy="2834640"/>
          </a:xfrm>
          <a:prstGeom prst="rect">
            <a:avLst/>
          </a:prstGeom>
          <a:solidFill>
            <a:srgbClr val="141417"/>
          </a:solidFill>
          <a:ln w="12700">
            <a:solidFill>
              <a:srgbClr val="8A754C"/>
            </a:solidFill>
            <a:prstDash val="solid"/>
          </a:ln>
        </p:spPr>
      </p:sp>
      <p:sp>
        <p:nvSpPr>
          <p:cNvPr id="3" name="Text 1"/>
          <p:cNvSpPr txBox="1"/>
          <p:nvPr/>
        </p:nvSpPr>
        <p:spPr>
          <a:xfrm>
            <a:off x="1097280" y="2148840"/>
            <a:ext cx="9994392" cy="1005840"/>
          </a:xfrm>
          <a:prstGeom prst="rect">
            <a:avLst/>
          </a:prstGeom>
          <a:noFill/>
          <a:ln/>
        </p:spPr>
        <p:txBody>
          <a:bodyPr wrap="square" lIns="0" tIns="0" rIns="0" bIns="0" rtlCol="0" anchor="ctr"/>
          <a:lstStyle/>
          <a:p>
            <a:pPr algn="ctr" indent="0" marL="0">
              <a:buNone/>
            </a:pPr>
            <a:r>
              <a:rPr lang="en-US" sz="5600" b="1" dirty="0">
                <a:solidFill>
                  <a:srgbClr val="D9A94E"/>
                </a:solidFill>
                <a:latin typeface="Calibri" pitchFamily="34" charset="0"/>
                <a:ea typeface="Calibri" pitchFamily="34" charset="-122"/>
                <a:cs typeface="Calibri" pitchFamily="34" charset="-120"/>
              </a:rPr>
              <a:t>TritonFlow</a:t>
            </a:r>
            <a:endParaRPr lang="en-US" sz="5600" dirty="0"/>
          </a:p>
        </p:txBody>
      </p:sp>
      <p:sp>
        <p:nvSpPr>
          <p:cNvPr id="4" name="Text 2"/>
          <p:cNvSpPr txBox="1"/>
          <p:nvPr/>
        </p:nvSpPr>
        <p:spPr>
          <a:xfrm>
            <a:off x="1097280" y="3246120"/>
            <a:ext cx="9994392" cy="502920"/>
          </a:xfrm>
          <a:prstGeom prst="rect">
            <a:avLst/>
          </a:prstGeom>
          <a:noFill/>
          <a:ln/>
        </p:spPr>
        <p:txBody>
          <a:bodyPr wrap="square" lIns="0" tIns="0" rIns="0" bIns="0" rtlCol="0" anchor="ctr"/>
          <a:lstStyle/>
          <a:p>
            <a:pPr algn="ctr" indent="0" marL="0">
              <a:buNone/>
            </a:pPr>
            <a:r>
              <a:rPr lang="en-US" sz="2100" dirty="0">
                <a:solidFill>
                  <a:srgbClr val="F2F2F2"/>
                </a:solidFill>
                <a:latin typeface="Calibri" pitchFamily="34" charset="0"/>
                <a:ea typeface="Calibri" pitchFamily="34" charset="-122"/>
                <a:cs typeface="Calibri" pitchFamily="34" charset="-120"/>
              </a:rPr>
              <a:t>Schema-Driven Compilation for New AI Accelerators</a:t>
            </a:r>
            <a:endParaRPr lang="en-US" sz="2100" dirty="0"/>
          </a:p>
        </p:txBody>
      </p:sp>
      <p:sp>
        <p:nvSpPr>
          <p:cNvPr id="5" name="Text 3"/>
          <p:cNvSpPr txBox="1"/>
          <p:nvPr/>
        </p:nvSpPr>
        <p:spPr>
          <a:xfrm>
            <a:off x="1097280" y="3886200"/>
            <a:ext cx="9994392" cy="411480"/>
          </a:xfrm>
          <a:prstGeom prst="rect">
            <a:avLst/>
          </a:prstGeom>
          <a:noFill/>
          <a:ln/>
        </p:spPr>
        <p:txBody>
          <a:bodyPr wrap="square" lIns="0" tIns="0" rIns="0" bIns="0" rtlCol="0" anchor="ctr"/>
          <a:lstStyle/>
          <a:p>
            <a:pPr algn="ctr" indent="0" marL="0">
              <a:buNone/>
            </a:pPr>
            <a:r>
              <a:rPr lang="en-US" sz="1400" dirty="0">
                <a:solidFill>
                  <a:srgbClr val="3ECF6E"/>
                </a:solidFill>
                <a:latin typeface="Courier New" pitchFamily="34" charset="0"/>
                <a:ea typeface="Courier New" pitchFamily="34" charset="-122"/>
                <a:cs typeface="Courier New" pitchFamily="34" charset="-120"/>
              </a:rPr>
              <a:t>describe the chip in YAML. the compiler does the rest.</a:t>
            </a:r>
            <a:endParaRPr lang="en-US" sz="1400" dirty="0"/>
          </a:p>
        </p:txBody>
      </p:sp>
      <p:sp>
        <p:nvSpPr>
          <p:cNvPr id="6" name="Shape 4"/>
          <p:cNvSpPr/>
          <p:nvPr/>
        </p:nvSpPr>
        <p:spPr>
          <a:xfrm>
            <a:off x="457200" y="256032"/>
            <a:ext cx="1508760" cy="402336"/>
          </a:xfrm>
          <a:prstGeom prst="roundRect">
            <a:avLst>
              <a:gd name="adj" fmla="val 18182"/>
            </a:avLst>
          </a:prstGeom>
          <a:solidFill>
            <a:srgbClr val="0D0D0F"/>
          </a:solidFill>
          <a:ln w="12700">
            <a:solidFill>
              <a:srgbClr val="8A754C"/>
            </a:solidFill>
            <a:prstDash val="solid"/>
          </a:ln>
        </p:spPr>
      </p:sp>
      <p:sp>
        <p:nvSpPr>
          <p:cNvPr id="7" name="Text 5"/>
          <p:cNvSpPr txBox="1"/>
          <p:nvPr/>
        </p:nvSpPr>
        <p:spPr>
          <a:xfrm>
            <a:off x="457200" y="256032"/>
            <a:ext cx="1508760" cy="402336"/>
          </a:xfrm>
          <a:prstGeom prst="rect">
            <a:avLst/>
          </a:prstGeom>
          <a:noFill/>
          <a:ln/>
        </p:spPr>
        <p:txBody>
          <a:bodyPr wrap="square" lIns="0" tIns="0" rIns="0" bIns="0" rtlCol="0" anchor="ctr"/>
          <a:lstStyle/>
          <a:p>
            <a:pPr algn="ctr" indent="0" marL="0">
              <a:buNone/>
            </a:pPr>
            <a:r>
              <a:rPr lang="en-US" sz="1150" b="1" dirty="0">
                <a:solidFill>
                  <a:srgbClr val="D9A94E"/>
                </a:solidFill>
                <a:latin typeface="Courier New" pitchFamily="34" charset="0"/>
                <a:ea typeface="Courier New" pitchFamily="34" charset="-122"/>
                <a:cs typeface="Courier New" pitchFamily="34" charset="-120"/>
              </a:rPr>
              <a:t>ValiumX</a:t>
            </a:r>
            <a:endParaRPr lang="en-US" sz="1150" dirty="0"/>
          </a:p>
        </p:txBody>
      </p:sp>
      <p:sp>
        <p:nvSpPr>
          <p:cNvPr id="8" name="Text 6"/>
          <p:cNvSpPr txBox="1"/>
          <p:nvPr/>
        </p:nvSpPr>
        <p:spPr>
          <a:xfrm>
            <a:off x="11338560" y="6473952"/>
            <a:ext cx="548640"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F"/>
        </a:solidFill>
      </p:bgPr>
    </p:bg>
    <p:spTree>
      <p:nvGrpSpPr>
        <p:cNvPr id="1" name=""/>
        <p:cNvGrpSpPr/>
        <p:nvPr/>
      </p:nvGrpSpPr>
      <p:grpSpPr>
        <a:xfrm>
          <a:off x="0" y="0"/>
          <a:ext cx="0" cy="0"/>
          <a:chOff x="0" y="0"/>
          <a:chExt cx="0" cy="0"/>
        </a:xfrm>
      </p:grpSpPr>
      <p:sp>
        <p:nvSpPr>
          <p:cNvPr id="2" name="Shape 0"/>
          <p:cNvSpPr/>
          <p:nvPr/>
        </p:nvSpPr>
        <p:spPr>
          <a:xfrm>
            <a:off x="457200" y="256032"/>
            <a:ext cx="1508760" cy="402336"/>
          </a:xfrm>
          <a:prstGeom prst="roundRect">
            <a:avLst>
              <a:gd name="adj" fmla="val 18182"/>
            </a:avLst>
          </a:prstGeom>
          <a:solidFill>
            <a:srgbClr val="0D0D0F"/>
          </a:solidFill>
          <a:ln w="12700">
            <a:solidFill>
              <a:srgbClr val="8A754C"/>
            </a:solidFill>
            <a:prstDash val="solid"/>
          </a:ln>
        </p:spPr>
      </p:sp>
      <p:sp>
        <p:nvSpPr>
          <p:cNvPr id="3" name="Text 1"/>
          <p:cNvSpPr txBox="1"/>
          <p:nvPr/>
        </p:nvSpPr>
        <p:spPr>
          <a:xfrm>
            <a:off x="457200" y="256032"/>
            <a:ext cx="1508760" cy="402336"/>
          </a:xfrm>
          <a:prstGeom prst="rect">
            <a:avLst/>
          </a:prstGeom>
          <a:noFill/>
          <a:ln/>
        </p:spPr>
        <p:txBody>
          <a:bodyPr wrap="square" lIns="0" tIns="0" rIns="0" bIns="0" rtlCol="0" anchor="ctr"/>
          <a:lstStyle/>
          <a:p>
            <a:pPr algn="ctr" indent="0" marL="0">
              <a:buNone/>
            </a:pPr>
            <a:r>
              <a:rPr lang="en-US" sz="1150" b="1" dirty="0">
                <a:solidFill>
                  <a:srgbClr val="D9A94E"/>
                </a:solidFill>
                <a:latin typeface="Courier New" pitchFamily="34" charset="0"/>
                <a:ea typeface="Courier New" pitchFamily="34" charset="-122"/>
                <a:cs typeface="Courier New" pitchFamily="34" charset="-120"/>
              </a:rPr>
              <a:t>ValiumX</a:t>
            </a:r>
            <a:endParaRPr lang="en-US" sz="1150" dirty="0"/>
          </a:p>
        </p:txBody>
      </p:sp>
      <p:sp>
        <p:nvSpPr>
          <p:cNvPr id="4" name="Text 2"/>
          <p:cNvSpPr txBox="1"/>
          <p:nvPr/>
        </p:nvSpPr>
        <p:spPr>
          <a:xfrm>
            <a:off x="2148840" y="201168"/>
            <a:ext cx="9418320" cy="502920"/>
          </a:xfrm>
          <a:prstGeom prst="rect">
            <a:avLst/>
          </a:prstGeom>
          <a:noFill/>
          <a:ln/>
        </p:spPr>
        <p:txBody>
          <a:bodyPr wrap="square" lIns="0" tIns="0" rIns="0" bIns="0" rtlCol="0" anchor="ctr"/>
          <a:lstStyle/>
          <a:p>
            <a:pPr algn="l" indent="0" marL="0">
              <a:buNone/>
            </a:pPr>
            <a:r>
              <a:rPr lang="en-US" sz="2300" b="1" dirty="0">
                <a:solidFill>
                  <a:srgbClr val="F2F2F2"/>
                </a:solidFill>
                <a:latin typeface="Calibri" pitchFamily="34" charset="0"/>
                <a:ea typeface="Calibri" pitchFamily="34" charset="-122"/>
                <a:cs typeface="Calibri" pitchFamily="34" charset="-120"/>
              </a:rPr>
              <a:t>New chip, old bottleneck</a:t>
            </a:r>
            <a:endParaRPr lang="en-US" sz="2300" dirty="0"/>
          </a:p>
        </p:txBody>
      </p:sp>
      <p:sp>
        <p:nvSpPr>
          <p:cNvPr id="5" name="Text 3"/>
          <p:cNvSpPr txBox="1"/>
          <p:nvPr/>
        </p:nvSpPr>
        <p:spPr>
          <a:xfrm>
            <a:off x="11338560" y="6473952"/>
            <a:ext cx="548640"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2</a:t>
            </a:r>
            <a:endParaRPr lang="en-US" sz="1100" dirty="0"/>
          </a:p>
        </p:txBody>
      </p:sp>
      <p:sp>
        <p:nvSpPr>
          <p:cNvPr id="6" name="Text 4"/>
          <p:cNvSpPr txBox="1"/>
          <p:nvPr/>
        </p:nvSpPr>
        <p:spPr>
          <a:xfrm>
            <a:off x="731520" y="1234440"/>
            <a:ext cx="5120640" cy="1143000"/>
          </a:xfrm>
          <a:prstGeom prst="rect">
            <a:avLst/>
          </a:prstGeom>
          <a:noFill/>
          <a:ln/>
        </p:spPr>
        <p:txBody>
          <a:bodyPr wrap="square" lIns="0" tIns="0" rIns="0" bIns="0" rtlCol="0" anchor="ctr"/>
          <a:lstStyle/>
          <a:p>
            <a:pPr indent="0" marL="0">
              <a:buNone/>
            </a:pPr>
            <a:r>
              <a:rPr lang="en-US" sz="6200" b="1" dirty="0">
                <a:solidFill>
                  <a:srgbClr val="D9A94E"/>
                </a:solidFill>
                <a:latin typeface="Calibri" pitchFamily="34" charset="0"/>
                <a:ea typeface="Calibri" pitchFamily="34" charset="-122"/>
                <a:cs typeface="Calibri" pitchFamily="34" charset="-120"/>
              </a:rPr>
              <a:t>6-9 months</a:t>
            </a:r>
            <a:endParaRPr lang="en-US" sz="6200" dirty="0"/>
          </a:p>
        </p:txBody>
      </p:sp>
      <p:sp>
        <p:nvSpPr>
          <p:cNvPr id="7" name="Text 5"/>
          <p:cNvSpPr txBox="1"/>
          <p:nvPr/>
        </p:nvSpPr>
        <p:spPr>
          <a:xfrm>
            <a:off x="731520" y="2423160"/>
            <a:ext cx="5120640" cy="1097280"/>
          </a:xfrm>
          <a:prstGeom prst="rect">
            <a:avLst/>
          </a:prstGeom>
          <a:noFill/>
          <a:ln/>
        </p:spPr>
        <p:txBody>
          <a:bodyPr wrap="square" lIns="0" tIns="0" rIns="0" bIns="0" rtlCol="0" anchor="ctr"/>
          <a:lstStyle/>
          <a:p>
            <a:pPr indent="0" marL="0">
              <a:buNone/>
            </a:pPr>
            <a:r>
              <a:rPr lang="en-US" sz="1900" dirty="0">
                <a:solidFill>
                  <a:srgbClr val="F2F2F2"/>
                </a:solidFill>
                <a:latin typeface="Calibri" pitchFamily="34" charset="0"/>
                <a:ea typeface="Calibri" pitchFamily="34" charset="-122"/>
                <a:cs typeface="Calibri" pitchFamily="34" charset="-120"/>
              </a:rPr>
              <a:t>of hand-written C++ backend work, before a single kernel runs on a new accelerator.</a:t>
            </a:r>
            <a:endParaRPr lang="en-US" sz="1900" dirty="0"/>
          </a:p>
        </p:txBody>
      </p:sp>
      <p:sp>
        <p:nvSpPr>
          <p:cNvPr id="8" name="Text 6"/>
          <p:cNvSpPr txBox="1"/>
          <p:nvPr/>
        </p:nvSpPr>
        <p:spPr>
          <a:xfrm>
            <a:off x="731520" y="3703320"/>
            <a:ext cx="5120640" cy="1280160"/>
          </a:xfrm>
          <a:prstGeom prst="rect">
            <a:avLst/>
          </a:prstGeom>
          <a:noFill/>
          <a:ln/>
        </p:spPr>
        <p:txBody>
          <a:bodyPr wrap="square" lIns="0" tIns="0" rIns="0" bIns="0" rtlCol="0" anchor="ctr"/>
          <a:lstStyle/>
          <a:p>
            <a:pPr indent="0" marL="0">
              <a:buNone/>
            </a:pPr>
            <a:r>
              <a:rPr lang="en-US" sz="1450" dirty="0">
                <a:solidFill>
                  <a:srgbClr val="9A9A9A"/>
                </a:solidFill>
                <a:latin typeface="Calibri" pitchFamily="34" charset="0"/>
                <a:ea typeface="Calibri" pitchFamily="34" charset="-122"/>
                <a:cs typeface="Calibri" pitchFamily="34" charset="-120"/>
              </a:rPr>
              <a:t>Every new chip means a new instruction selector, a new register allocator, and a new set of lowering rules, written by hand and re-validated from scratch.</a:t>
            </a:r>
            <a:endParaRPr lang="en-US" sz="1450" dirty="0"/>
          </a:p>
        </p:txBody>
      </p:sp>
      <p:sp>
        <p:nvSpPr>
          <p:cNvPr id="9" name="Shape 7"/>
          <p:cNvSpPr/>
          <p:nvPr/>
        </p:nvSpPr>
        <p:spPr>
          <a:xfrm>
            <a:off x="6309360" y="2651760"/>
            <a:ext cx="1207008" cy="1051560"/>
          </a:xfrm>
          <a:prstGeom prst="roundRect">
            <a:avLst>
              <a:gd name="adj" fmla="val 6957"/>
            </a:avLst>
          </a:prstGeom>
          <a:solidFill>
            <a:srgbClr val="141417"/>
          </a:solidFill>
          <a:ln w="15875">
            <a:solidFill>
              <a:srgbClr val="8A754C"/>
            </a:solidFill>
            <a:prstDash val="solid"/>
          </a:ln>
        </p:spPr>
      </p:sp>
      <p:sp>
        <p:nvSpPr>
          <p:cNvPr id="10" name="Text 8"/>
          <p:cNvSpPr txBox="1"/>
          <p:nvPr/>
        </p:nvSpPr>
        <p:spPr>
          <a:xfrm>
            <a:off x="6309360" y="2651760"/>
            <a:ext cx="1207008" cy="1051560"/>
          </a:xfrm>
          <a:prstGeom prst="rect">
            <a:avLst/>
          </a:prstGeom>
          <a:noFill/>
          <a:ln/>
        </p:spPr>
        <p:txBody>
          <a:bodyPr wrap="square" lIns="25400" tIns="25400" rIns="25400" bIns="25400" rtlCol="0" anchor="ctr"/>
          <a:lstStyle/>
          <a:p>
            <a:pPr algn="ctr" indent="0" marL="0">
              <a:buNone/>
            </a:pPr>
            <a:r>
              <a:rPr lang="en-US" sz="1100" dirty="0">
                <a:solidFill>
                  <a:srgbClr val="F2F2F2"/>
                </a:solidFill>
                <a:latin typeface="Calibri" pitchFamily="34" charset="0"/>
                <a:ea typeface="Calibri" pitchFamily="34" charset="-122"/>
                <a:cs typeface="Calibri" pitchFamily="34" charset="-120"/>
              </a:rPr>
              <a:t>Chip spec</a:t>
            </a:r>
            <a:endParaRPr lang="en-US" sz="1100" dirty="0"/>
          </a:p>
          <a:p>
            <a:pPr algn="ctr" indent="0" marL="0">
              <a:buNone/>
            </a:pPr>
            <a:r>
              <a:rPr lang="en-US" sz="1100" dirty="0">
                <a:solidFill>
                  <a:srgbClr val="F2F2F2"/>
                </a:solidFill>
                <a:latin typeface="Calibri" pitchFamily="34" charset="0"/>
                <a:ea typeface="Calibri" pitchFamily="34" charset="-122"/>
                <a:cs typeface="Calibri" pitchFamily="34" charset="-120"/>
              </a:rPr>
              <a:t>frozen</a:t>
            </a:r>
            <a:endParaRPr lang="en-US" sz="1100" dirty="0"/>
          </a:p>
        </p:txBody>
      </p:sp>
      <p:sp>
        <p:nvSpPr>
          <p:cNvPr id="11" name="Text 9"/>
          <p:cNvSpPr txBox="1"/>
          <p:nvPr/>
        </p:nvSpPr>
        <p:spPr>
          <a:xfrm>
            <a:off x="7516368" y="2651760"/>
            <a:ext cx="201168" cy="1051560"/>
          </a:xfrm>
          <a:prstGeom prst="rect">
            <a:avLst/>
          </a:prstGeom>
          <a:noFill/>
          <a:ln/>
        </p:spPr>
        <p:txBody>
          <a:bodyPr wrap="square" lIns="0" tIns="0" rIns="0" bIns="0" rtlCol="0" anchor="ctr"/>
          <a:lstStyle/>
          <a:p>
            <a:pPr algn="ctr" indent="0" marL="0">
              <a:buNone/>
            </a:pPr>
            <a:r>
              <a:rPr lang="en-US" sz="1400" b="1" dirty="0">
                <a:solidFill>
                  <a:srgbClr val="9A9A9A"/>
                </a:solidFill>
                <a:latin typeface="Courier New" pitchFamily="34" charset="0"/>
                <a:ea typeface="Courier New" pitchFamily="34" charset="-122"/>
                <a:cs typeface="Courier New" pitchFamily="34" charset="-120"/>
              </a:rPr>
              <a:t>-&gt;</a:t>
            </a:r>
            <a:endParaRPr lang="en-US" sz="1400" dirty="0"/>
          </a:p>
        </p:txBody>
      </p:sp>
      <p:sp>
        <p:nvSpPr>
          <p:cNvPr id="12" name="Shape 10"/>
          <p:cNvSpPr/>
          <p:nvPr/>
        </p:nvSpPr>
        <p:spPr>
          <a:xfrm>
            <a:off x="7717536" y="2651760"/>
            <a:ext cx="1207008" cy="1051560"/>
          </a:xfrm>
          <a:prstGeom prst="roundRect">
            <a:avLst>
              <a:gd name="adj" fmla="val 6957"/>
            </a:avLst>
          </a:prstGeom>
          <a:solidFill>
            <a:srgbClr val="141417"/>
          </a:solidFill>
          <a:ln w="15875">
            <a:solidFill>
              <a:srgbClr val="8A754C"/>
            </a:solidFill>
            <a:prstDash val="solid"/>
          </a:ln>
        </p:spPr>
      </p:sp>
      <p:sp>
        <p:nvSpPr>
          <p:cNvPr id="13" name="Text 11"/>
          <p:cNvSpPr txBox="1"/>
          <p:nvPr/>
        </p:nvSpPr>
        <p:spPr>
          <a:xfrm>
            <a:off x="7717536" y="2651760"/>
            <a:ext cx="1207008" cy="1051560"/>
          </a:xfrm>
          <a:prstGeom prst="rect">
            <a:avLst/>
          </a:prstGeom>
          <a:noFill/>
          <a:ln/>
        </p:spPr>
        <p:txBody>
          <a:bodyPr wrap="square" lIns="25400" tIns="25400" rIns="25400" bIns="25400" rtlCol="0" anchor="ctr"/>
          <a:lstStyle/>
          <a:p>
            <a:pPr algn="ctr" indent="0" marL="0">
              <a:buNone/>
            </a:pPr>
            <a:r>
              <a:rPr lang="en-US" sz="1100" dirty="0">
                <a:solidFill>
                  <a:srgbClr val="F2F2F2"/>
                </a:solidFill>
                <a:latin typeface="Calibri" pitchFamily="34" charset="0"/>
                <a:ea typeface="Calibri" pitchFamily="34" charset="-122"/>
                <a:cs typeface="Calibri" pitchFamily="34" charset="-120"/>
              </a:rPr>
              <a:t>Write ISA</a:t>
            </a:r>
            <a:endParaRPr lang="en-US" sz="1100" dirty="0"/>
          </a:p>
          <a:p>
            <a:pPr algn="ctr" indent="0" marL="0">
              <a:buNone/>
            </a:pPr>
            <a:r>
              <a:rPr lang="en-US" sz="1100" dirty="0">
                <a:solidFill>
                  <a:srgbClr val="F2F2F2"/>
                </a:solidFill>
                <a:latin typeface="Calibri" pitchFamily="34" charset="0"/>
                <a:ea typeface="Calibri" pitchFamily="34" charset="-122"/>
                <a:cs typeface="Calibri" pitchFamily="34" charset="-120"/>
              </a:rPr>
              <a:t>lowering</a:t>
            </a:r>
            <a:endParaRPr lang="en-US" sz="1100" dirty="0"/>
          </a:p>
        </p:txBody>
      </p:sp>
      <p:sp>
        <p:nvSpPr>
          <p:cNvPr id="14" name="Text 12"/>
          <p:cNvSpPr txBox="1"/>
          <p:nvPr/>
        </p:nvSpPr>
        <p:spPr>
          <a:xfrm>
            <a:off x="8924544" y="2651760"/>
            <a:ext cx="201168" cy="1051560"/>
          </a:xfrm>
          <a:prstGeom prst="rect">
            <a:avLst/>
          </a:prstGeom>
          <a:noFill/>
          <a:ln/>
        </p:spPr>
        <p:txBody>
          <a:bodyPr wrap="square" lIns="0" tIns="0" rIns="0" bIns="0" rtlCol="0" anchor="ctr"/>
          <a:lstStyle/>
          <a:p>
            <a:pPr algn="ctr" indent="0" marL="0">
              <a:buNone/>
            </a:pPr>
            <a:r>
              <a:rPr lang="en-US" sz="1400" b="1" dirty="0">
                <a:solidFill>
                  <a:srgbClr val="9A9A9A"/>
                </a:solidFill>
                <a:latin typeface="Courier New" pitchFamily="34" charset="0"/>
                <a:ea typeface="Courier New" pitchFamily="34" charset="-122"/>
                <a:cs typeface="Courier New" pitchFamily="34" charset="-120"/>
              </a:rPr>
              <a:t>-&gt;</a:t>
            </a:r>
            <a:endParaRPr lang="en-US" sz="1400" dirty="0"/>
          </a:p>
        </p:txBody>
      </p:sp>
      <p:sp>
        <p:nvSpPr>
          <p:cNvPr id="15" name="Shape 13"/>
          <p:cNvSpPr/>
          <p:nvPr/>
        </p:nvSpPr>
        <p:spPr>
          <a:xfrm>
            <a:off x="9125712" y="2651760"/>
            <a:ext cx="1207008" cy="1051560"/>
          </a:xfrm>
          <a:prstGeom prst="roundRect">
            <a:avLst>
              <a:gd name="adj" fmla="val 6957"/>
            </a:avLst>
          </a:prstGeom>
          <a:solidFill>
            <a:srgbClr val="141417"/>
          </a:solidFill>
          <a:ln w="15875">
            <a:solidFill>
              <a:srgbClr val="8A754C"/>
            </a:solidFill>
            <a:prstDash val="solid"/>
          </a:ln>
        </p:spPr>
      </p:sp>
      <p:sp>
        <p:nvSpPr>
          <p:cNvPr id="16" name="Text 14"/>
          <p:cNvSpPr txBox="1"/>
          <p:nvPr/>
        </p:nvSpPr>
        <p:spPr>
          <a:xfrm>
            <a:off x="9125712" y="2651760"/>
            <a:ext cx="1207008" cy="1051560"/>
          </a:xfrm>
          <a:prstGeom prst="rect">
            <a:avLst/>
          </a:prstGeom>
          <a:noFill/>
          <a:ln/>
        </p:spPr>
        <p:txBody>
          <a:bodyPr wrap="square" lIns="25400" tIns="25400" rIns="25400" bIns="25400" rtlCol="0" anchor="ctr"/>
          <a:lstStyle/>
          <a:p>
            <a:pPr algn="ctr" indent="0" marL="0">
              <a:buNone/>
            </a:pPr>
            <a:r>
              <a:rPr lang="en-US" sz="1100" dirty="0">
                <a:solidFill>
                  <a:srgbClr val="F2F2F2"/>
                </a:solidFill>
                <a:latin typeface="Calibri" pitchFamily="34" charset="0"/>
                <a:ea typeface="Calibri" pitchFamily="34" charset="-122"/>
                <a:cs typeface="Calibri" pitchFamily="34" charset="-120"/>
              </a:rPr>
              <a:t>Validate</a:t>
            </a:r>
            <a:endParaRPr lang="en-US" sz="1100" dirty="0"/>
          </a:p>
          <a:p>
            <a:pPr algn="ctr" indent="0" marL="0">
              <a:buNone/>
            </a:pPr>
            <a:r>
              <a:rPr lang="en-US" sz="1100" dirty="0">
                <a:solidFill>
                  <a:srgbClr val="F2F2F2"/>
                </a:solidFill>
                <a:latin typeface="Calibri" pitchFamily="34" charset="0"/>
                <a:ea typeface="Calibri" pitchFamily="34" charset="-122"/>
                <a:cs typeface="Calibri" pitchFamily="34" charset="-120"/>
              </a:rPr>
              <a:t>numerics</a:t>
            </a:r>
            <a:endParaRPr lang="en-US" sz="1100" dirty="0"/>
          </a:p>
        </p:txBody>
      </p:sp>
      <p:sp>
        <p:nvSpPr>
          <p:cNvPr id="17" name="Text 15"/>
          <p:cNvSpPr txBox="1"/>
          <p:nvPr/>
        </p:nvSpPr>
        <p:spPr>
          <a:xfrm>
            <a:off x="10332720" y="2651760"/>
            <a:ext cx="201168" cy="1051560"/>
          </a:xfrm>
          <a:prstGeom prst="rect">
            <a:avLst/>
          </a:prstGeom>
          <a:noFill/>
          <a:ln/>
        </p:spPr>
        <p:txBody>
          <a:bodyPr wrap="square" lIns="0" tIns="0" rIns="0" bIns="0" rtlCol="0" anchor="ctr"/>
          <a:lstStyle/>
          <a:p>
            <a:pPr algn="ctr" indent="0" marL="0">
              <a:buNone/>
            </a:pPr>
            <a:r>
              <a:rPr lang="en-US" sz="1400" b="1" dirty="0">
                <a:solidFill>
                  <a:srgbClr val="9A9A9A"/>
                </a:solidFill>
                <a:latin typeface="Courier New" pitchFamily="34" charset="0"/>
                <a:ea typeface="Courier New" pitchFamily="34" charset="-122"/>
                <a:cs typeface="Courier New" pitchFamily="34" charset="-120"/>
              </a:rPr>
              <a:t>-&gt;</a:t>
            </a:r>
            <a:endParaRPr lang="en-US" sz="1400" dirty="0"/>
          </a:p>
        </p:txBody>
      </p:sp>
      <p:sp>
        <p:nvSpPr>
          <p:cNvPr id="18" name="Shape 16"/>
          <p:cNvSpPr/>
          <p:nvPr/>
        </p:nvSpPr>
        <p:spPr>
          <a:xfrm>
            <a:off x="10533888" y="2651760"/>
            <a:ext cx="1207008" cy="1051560"/>
          </a:xfrm>
          <a:prstGeom prst="roundRect">
            <a:avLst>
              <a:gd name="adj" fmla="val 6957"/>
            </a:avLst>
          </a:prstGeom>
          <a:solidFill>
            <a:srgbClr val="141417"/>
          </a:solidFill>
          <a:ln w="15875">
            <a:solidFill>
              <a:srgbClr val="3ECF6E"/>
            </a:solidFill>
            <a:prstDash val="solid"/>
          </a:ln>
        </p:spPr>
      </p:sp>
      <p:sp>
        <p:nvSpPr>
          <p:cNvPr id="19" name="Text 17"/>
          <p:cNvSpPr txBox="1"/>
          <p:nvPr/>
        </p:nvSpPr>
        <p:spPr>
          <a:xfrm>
            <a:off x="10533888" y="2651760"/>
            <a:ext cx="1207008" cy="1051560"/>
          </a:xfrm>
          <a:prstGeom prst="rect">
            <a:avLst/>
          </a:prstGeom>
          <a:noFill/>
          <a:ln/>
        </p:spPr>
        <p:txBody>
          <a:bodyPr wrap="square" lIns="25400" tIns="25400" rIns="25400" bIns="25400" rtlCol="0" anchor="ctr"/>
          <a:lstStyle/>
          <a:p>
            <a:pPr algn="ctr" indent="0" marL="0">
              <a:buNone/>
            </a:pPr>
            <a:r>
              <a:rPr lang="en-US" sz="1100" dirty="0">
                <a:solidFill>
                  <a:srgbClr val="3ECF6E"/>
                </a:solidFill>
                <a:latin typeface="Calibri" pitchFamily="34" charset="0"/>
                <a:ea typeface="Calibri" pitchFamily="34" charset="-122"/>
                <a:cs typeface="Calibri" pitchFamily="34" charset="-120"/>
              </a:rPr>
              <a:t>First kernel</a:t>
            </a:r>
            <a:endParaRPr lang="en-US" sz="1100" dirty="0"/>
          </a:p>
          <a:p>
            <a:pPr algn="ctr" indent="0" marL="0">
              <a:buNone/>
            </a:pPr>
            <a:r>
              <a:rPr lang="en-US" sz="1100" dirty="0">
                <a:solidFill>
                  <a:srgbClr val="3ECF6E"/>
                </a:solidFill>
                <a:latin typeface="Calibri" pitchFamily="34" charset="0"/>
                <a:ea typeface="Calibri" pitchFamily="34" charset="-122"/>
                <a:cs typeface="Calibri" pitchFamily="34" charset="-120"/>
              </a:rPr>
              <a:t>runs</a:t>
            </a:r>
            <a:endParaRPr lang="en-US" sz="1100" dirty="0"/>
          </a:p>
        </p:txBody>
      </p:sp>
      <p:sp>
        <p:nvSpPr>
          <p:cNvPr id="20" name="Text 18"/>
          <p:cNvSpPr txBox="1"/>
          <p:nvPr/>
        </p:nvSpPr>
        <p:spPr>
          <a:xfrm>
            <a:off x="6309360" y="4023360"/>
            <a:ext cx="5431536" cy="320040"/>
          </a:xfrm>
          <a:prstGeom prst="rect">
            <a:avLst/>
          </a:prstGeom>
          <a:noFill/>
          <a:ln/>
        </p:spPr>
        <p:txBody>
          <a:bodyPr wrap="square" lIns="0" tIns="0" rIns="0" bIns="0" rtlCol="0" anchor="ctr"/>
          <a:lstStyle/>
          <a:p>
            <a:pPr algn="ctr" indent="0" marL="0">
              <a:buNone/>
            </a:pPr>
            <a:r>
              <a:rPr lang="en-US" sz="1250" i="1" dirty="0">
                <a:solidFill>
                  <a:srgbClr val="9A9A9A"/>
                </a:solidFill>
                <a:latin typeface="Calibri" pitchFamily="34" charset="0"/>
                <a:ea typeface="Calibri" pitchFamily="34" charset="-122"/>
                <a:cs typeface="Calibri" pitchFamily="34" charset="-120"/>
              </a:rPr>
              <a:t>today's path for a new backend: months of engineering per box</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F"/>
        </a:solidFill>
      </p:bgPr>
    </p:bg>
    <p:spTree>
      <p:nvGrpSpPr>
        <p:cNvPr id="1" name=""/>
        <p:cNvGrpSpPr/>
        <p:nvPr/>
      </p:nvGrpSpPr>
      <p:grpSpPr>
        <a:xfrm>
          <a:off x="0" y="0"/>
          <a:ext cx="0" cy="0"/>
          <a:chOff x="0" y="0"/>
          <a:chExt cx="0" cy="0"/>
        </a:xfrm>
      </p:grpSpPr>
      <p:sp>
        <p:nvSpPr>
          <p:cNvPr id="2" name="Shape 0"/>
          <p:cNvSpPr/>
          <p:nvPr/>
        </p:nvSpPr>
        <p:spPr>
          <a:xfrm>
            <a:off x="457200" y="256032"/>
            <a:ext cx="1508760" cy="402336"/>
          </a:xfrm>
          <a:prstGeom prst="roundRect">
            <a:avLst>
              <a:gd name="adj" fmla="val 18182"/>
            </a:avLst>
          </a:prstGeom>
          <a:solidFill>
            <a:srgbClr val="0D0D0F"/>
          </a:solidFill>
          <a:ln w="12700">
            <a:solidFill>
              <a:srgbClr val="8A754C"/>
            </a:solidFill>
            <a:prstDash val="solid"/>
          </a:ln>
        </p:spPr>
      </p:sp>
      <p:sp>
        <p:nvSpPr>
          <p:cNvPr id="3" name="Text 1"/>
          <p:cNvSpPr txBox="1"/>
          <p:nvPr/>
        </p:nvSpPr>
        <p:spPr>
          <a:xfrm>
            <a:off x="457200" y="256032"/>
            <a:ext cx="1508760" cy="402336"/>
          </a:xfrm>
          <a:prstGeom prst="rect">
            <a:avLst/>
          </a:prstGeom>
          <a:noFill/>
          <a:ln/>
        </p:spPr>
        <p:txBody>
          <a:bodyPr wrap="square" lIns="0" tIns="0" rIns="0" bIns="0" rtlCol="0" anchor="ctr"/>
          <a:lstStyle/>
          <a:p>
            <a:pPr algn="ctr" indent="0" marL="0">
              <a:buNone/>
            </a:pPr>
            <a:r>
              <a:rPr lang="en-US" sz="1150" b="1" dirty="0">
                <a:solidFill>
                  <a:srgbClr val="D9A94E"/>
                </a:solidFill>
                <a:latin typeface="Courier New" pitchFamily="34" charset="0"/>
                <a:ea typeface="Courier New" pitchFamily="34" charset="-122"/>
                <a:cs typeface="Courier New" pitchFamily="34" charset="-120"/>
              </a:rPr>
              <a:t>ValiumX</a:t>
            </a:r>
            <a:endParaRPr lang="en-US" sz="1150" dirty="0"/>
          </a:p>
        </p:txBody>
      </p:sp>
      <p:sp>
        <p:nvSpPr>
          <p:cNvPr id="4" name="Text 2"/>
          <p:cNvSpPr txBox="1"/>
          <p:nvPr/>
        </p:nvSpPr>
        <p:spPr>
          <a:xfrm>
            <a:off x="2148840" y="201168"/>
            <a:ext cx="9418320" cy="502920"/>
          </a:xfrm>
          <a:prstGeom prst="rect">
            <a:avLst/>
          </a:prstGeom>
          <a:noFill/>
          <a:ln/>
        </p:spPr>
        <p:txBody>
          <a:bodyPr wrap="square" lIns="0" tIns="0" rIns="0" bIns="0" rtlCol="0" anchor="ctr"/>
          <a:lstStyle/>
          <a:p>
            <a:pPr algn="l" indent="0" marL="0">
              <a:buNone/>
            </a:pPr>
            <a:r>
              <a:rPr lang="en-US" sz="2300" b="1" dirty="0">
                <a:solidFill>
                  <a:srgbClr val="F2F2F2"/>
                </a:solidFill>
                <a:latin typeface="Calibri" pitchFamily="34" charset="0"/>
                <a:ea typeface="Calibri" pitchFamily="34" charset="-122"/>
                <a:cs typeface="Calibri" pitchFamily="34" charset="-120"/>
              </a:rPr>
              <a:t>Describe the chip. Compile everywhere.</a:t>
            </a:r>
            <a:endParaRPr lang="en-US" sz="2300" dirty="0"/>
          </a:p>
        </p:txBody>
      </p:sp>
      <p:sp>
        <p:nvSpPr>
          <p:cNvPr id="5" name="Text 3"/>
          <p:cNvSpPr txBox="1"/>
          <p:nvPr/>
        </p:nvSpPr>
        <p:spPr>
          <a:xfrm>
            <a:off x="11338560" y="6473952"/>
            <a:ext cx="548640"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3</a:t>
            </a:r>
            <a:endParaRPr lang="en-US" sz="1100" dirty="0"/>
          </a:p>
        </p:txBody>
      </p:sp>
      <p:sp>
        <p:nvSpPr>
          <p:cNvPr id="6" name="Text 4"/>
          <p:cNvSpPr txBox="1"/>
          <p:nvPr/>
        </p:nvSpPr>
        <p:spPr>
          <a:xfrm>
            <a:off x="731520" y="1051560"/>
            <a:ext cx="10698480" cy="731520"/>
          </a:xfrm>
          <a:prstGeom prst="rect">
            <a:avLst/>
          </a:prstGeom>
          <a:noFill/>
          <a:ln/>
        </p:spPr>
        <p:txBody>
          <a:bodyPr wrap="square" lIns="0" tIns="0" rIns="0" bIns="0" rtlCol="0" anchor="ctr"/>
          <a:lstStyle/>
          <a:p>
            <a:pPr indent="0" marL="0">
              <a:buNone/>
            </a:pPr>
            <a:r>
              <a:rPr lang="en-US" sz="1650" dirty="0">
                <a:solidFill>
                  <a:srgbClr val="F2F2F2"/>
                </a:solidFill>
                <a:latin typeface="Calibri" pitchFamily="34" charset="0"/>
                <a:ea typeface="Calibri" pitchFamily="34" charset="-122"/>
                <a:cs typeface="Calibri" pitchFamily="34" charset="-120"/>
              </a:rPr>
              <a:t>One YAML schema replaces the hand-written backend. It lists the target's instructions and their costs, TritonFlow reads it and lowers the same IR to that machine.</a:t>
            </a:r>
            <a:endParaRPr lang="en-US" sz="1650" dirty="0"/>
          </a:p>
        </p:txBody>
      </p:sp>
      <p:sp>
        <p:nvSpPr>
          <p:cNvPr id="7" name="Shape 5"/>
          <p:cNvSpPr/>
          <p:nvPr/>
        </p:nvSpPr>
        <p:spPr>
          <a:xfrm>
            <a:off x="731520" y="2240280"/>
            <a:ext cx="3017520" cy="1828800"/>
          </a:xfrm>
          <a:prstGeom prst="roundRect">
            <a:avLst>
              <a:gd name="adj" fmla="val 4000"/>
            </a:avLst>
          </a:prstGeom>
          <a:solidFill>
            <a:srgbClr val="141417"/>
          </a:solidFill>
          <a:ln w="19050">
            <a:solidFill>
              <a:srgbClr val="8A754C"/>
            </a:solidFill>
            <a:prstDash val="solid"/>
          </a:ln>
        </p:spPr>
      </p:sp>
      <p:sp>
        <p:nvSpPr>
          <p:cNvPr id="8" name="Text 6"/>
          <p:cNvSpPr txBox="1"/>
          <p:nvPr/>
        </p:nvSpPr>
        <p:spPr>
          <a:xfrm>
            <a:off x="868680" y="2496312"/>
            <a:ext cx="2743200" cy="411480"/>
          </a:xfrm>
          <a:prstGeom prst="rect">
            <a:avLst/>
          </a:prstGeom>
          <a:noFill/>
          <a:ln/>
        </p:spPr>
        <p:txBody>
          <a:bodyPr wrap="square" lIns="0" tIns="0" rIns="0" bIns="0" rtlCol="0" anchor="ctr"/>
          <a:lstStyle/>
          <a:p>
            <a:pPr algn="ctr" indent="0" marL="0">
              <a:buNone/>
            </a:pPr>
            <a:r>
              <a:rPr lang="en-US" sz="1600" dirty="0">
                <a:solidFill>
                  <a:srgbClr val="D9A94E"/>
                </a:solidFill>
                <a:latin typeface="Courier New" pitchFamily="34" charset="0"/>
                <a:ea typeface="Courier New" pitchFamily="34" charset="-122"/>
                <a:cs typeface="Courier New" pitchFamily="34" charset="-120"/>
              </a:rPr>
              <a:t>chip.yaml</a:t>
            </a:r>
            <a:endParaRPr lang="en-US" sz="1600" dirty="0"/>
          </a:p>
        </p:txBody>
      </p:sp>
      <p:sp>
        <p:nvSpPr>
          <p:cNvPr id="9" name="Text 7"/>
          <p:cNvSpPr txBox="1"/>
          <p:nvPr/>
        </p:nvSpPr>
        <p:spPr>
          <a:xfrm>
            <a:off x="868680" y="3063240"/>
            <a:ext cx="2743200" cy="822960"/>
          </a:xfrm>
          <a:prstGeom prst="rect">
            <a:avLst/>
          </a:prstGeom>
          <a:noFill/>
          <a:ln/>
        </p:spPr>
        <p:txBody>
          <a:bodyPr wrap="square" lIns="0" tIns="0" rIns="0" bIns="0" rtlCol="0" anchor="ctr"/>
          <a:lstStyle/>
          <a:p>
            <a:pPr algn="ctr" indent="0" marL="0">
              <a:buNone/>
            </a:pPr>
            <a:r>
              <a:rPr lang="en-US" sz="1300" dirty="0">
                <a:solidFill>
                  <a:srgbClr val="9A9A9A"/>
                </a:solidFill>
                <a:latin typeface="Calibri" pitchFamily="34" charset="0"/>
                <a:ea typeface="Calibri" pitchFamily="34" charset="-122"/>
                <a:cs typeface="Calibri" pitchFamily="34" charset="-120"/>
              </a:rPr>
              <a:t>instructions, costs,</a:t>
            </a:r>
            <a:endParaRPr lang="en-US" sz="1300" dirty="0"/>
          </a:p>
          <a:p>
            <a:pPr algn="ctr" indent="0" marL="0">
              <a:buNone/>
            </a:pPr>
            <a:r>
              <a:rPr lang="en-US" sz="1300" dirty="0">
                <a:solidFill>
                  <a:srgbClr val="9A9A9A"/>
                </a:solidFill>
                <a:latin typeface="Calibri" pitchFamily="34" charset="0"/>
                <a:ea typeface="Calibri" pitchFamily="34" charset="-122"/>
                <a:cs typeface="Calibri" pitchFamily="34" charset="-120"/>
              </a:rPr>
              <a:t>register file, memory model</a:t>
            </a:r>
            <a:endParaRPr lang="en-US" sz="1300" dirty="0"/>
          </a:p>
        </p:txBody>
      </p:sp>
      <p:sp>
        <p:nvSpPr>
          <p:cNvPr id="10" name="Text 8"/>
          <p:cNvSpPr txBox="1"/>
          <p:nvPr/>
        </p:nvSpPr>
        <p:spPr>
          <a:xfrm>
            <a:off x="3749040" y="2240280"/>
            <a:ext cx="685800" cy="1828800"/>
          </a:xfrm>
          <a:prstGeom prst="rect">
            <a:avLst/>
          </a:prstGeom>
          <a:noFill/>
          <a:ln/>
        </p:spPr>
        <p:txBody>
          <a:bodyPr wrap="square" lIns="0" tIns="0" rIns="0" bIns="0" rtlCol="0" anchor="ctr"/>
          <a:lstStyle/>
          <a:p>
            <a:pPr algn="ctr" indent="0" marL="0">
              <a:buNone/>
            </a:pPr>
            <a:r>
              <a:rPr lang="en-US" sz="2400" b="1" dirty="0">
                <a:solidFill>
                  <a:srgbClr val="9A9A9A"/>
                </a:solidFill>
                <a:latin typeface="Courier New" pitchFamily="34" charset="0"/>
                <a:ea typeface="Courier New" pitchFamily="34" charset="-122"/>
                <a:cs typeface="Courier New" pitchFamily="34" charset="-120"/>
              </a:rPr>
              <a:t>-&gt;</a:t>
            </a:r>
            <a:endParaRPr lang="en-US" sz="2400" dirty="0"/>
          </a:p>
        </p:txBody>
      </p:sp>
      <p:sp>
        <p:nvSpPr>
          <p:cNvPr id="11" name="Shape 9"/>
          <p:cNvSpPr/>
          <p:nvPr/>
        </p:nvSpPr>
        <p:spPr>
          <a:xfrm>
            <a:off x="4434840" y="2240280"/>
            <a:ext cx="3291840" cy="1828800"/>
          </a:xfrm>
          <a:prstGeom prst="roundRect">
            <a:avLst>
              <a:gd name="adj" fmla="val 4000"/>
            </a:avLst>
          </a:prstGeom>
          <a:solidFill>
            <a:srgbClr val="141417"/>
          </a:solidFill>
          <a:ln w="19050">
            <a:solidFill>
              <a:srgbClr val="3ECF6E"/>
            </a:solidFill>
            <a:prstDash val="solid"/>
          </a:ln>
        </p:spPr>
      </p:sp>
      <p:sp>
        <p:nvSpPr>
          <p:cNvPr id="12" name="Text 10"/>
          <p:cNvSpPr txBox="1"/>
          <p:nvPr/>
        </p:nvSpPr>
        <p:spPr>
          <a:xfrm>
            <a:off x="4572000" y="2496312"/>
            <a:ext cx="3017520" cy="411480"/>
          </a:xfrm>
          <a:prstGeom prst="rect">
            <a:avLst/>
          </a:prstGeom>
          <a:noFill/>
          <a:ln/>
        </p:spPr>
        <p:txBody>
          <a:bodyPr wrap="square" lIns="0" tIns="0" rIns="0" bIns="0" rtlCol="0" anchor="ctr"/>
          <a:lstStyle/>
          <a:p>
            <a:pPr algn="ctr" indent="0" marL="0">
              <a:buNone/>
            </a:pPr>
            <a:r>
              <a:rPr lang="en-US" sz="1800" b="1" dirty="0">
                <a:solidFill>
                  <a:srgbClr val="3ECF6E"/>
                </a:solidFill>
                <a:latin typeface="Calibri" pitchFamily="34" charset="0"/>
                <a:ea typeface="Calibri" pitchFamily="34" charset="-122"/>
                <a:cs typeface="Calibri" pitchFamily="34" charset="-120"/>
              </a:rPr>
              <a:t>TritonFlow compiler</a:t>
            </a:r>
            <a:endParaRPr lang="en-US" sz="1800" dirty="0"/>
          </a:p>
        </p:txBody>
      </p:sp>
      <p:sp>
        <p:nvSpPr>
          <p:cNvPr id="13" name="Text 11"/>
          <p:cNvSpPr txBox="1"/>
          <p:nvPr/>
        </p:nvSpPr>
        <p:spPr>
          <a:xfrm>
            <a:off x="4572000" y="3063240"/>
            <a:ext cx="3017520" cy="822960"/>
          </a:xfrm>
          <a:prstGeom prst="rect">
            <a:avLst/>
          </a:prstGeom>
          <a:noFill/>
          <a:ln/>
        </p:spPr>
        <p:txBody>
          <a:bodyPr wrap="square" lIns="0" tIns="0" rIns="0" bIns="0" rtlCol="0" anchor="ctr"/>
          <a:lstStyle/>
          <a:p>
            <a:pPr algn="ctr" indent="0" marL="0">
              <a:buNone/>
            </a:pPr>
            <a:r>
              <a:rPr lang="en-US" sz="1300" dirty="0">
                <a:solidFill>
                  <a:srgbClr val="9A9A9A"/>
                </a:solidFill>
                <a:latin typeface="Calibri" pitchFamily="34" charset="0"/>
                <a:ea typeface="Calibri" pitchFamily="34" charset="-122"/>
                <a:cs typeface="Calibri" pitchFamily="34" charset="-120"/>
              </a:rPr>
              <a:t>one backend, reads the</a:t>
            </a:r>
            <a:endParaRPr lang="en-US" sz="1300" dirty="0"/>
          </a:p>
          <a:p>
            <a:pPr algn="ctr" indent="0" marL="0">
              <a:buNone/>
            </a:pPr>
            <a:r>
              <a:rPr lang="en-US" sz="1300" dirty="0">
                <a:solidFill>
                  <a:srgbClr val="9A9A9A"/>
                </a:solidFill>
                <a:latin typeface="Calibri" pitchFamily="34" charset="0"/>
                <a:ea typeface="Calibri" pitchFamily="34" charset="-122"/>
                <a:cs typeface="Calibri" pitchFamily="34" charset="-120"/>
              </a:rPr>
              <a:t>schema, lowers the same IR</a:t>
            </a:r>
            <a:endParaRPr lang="en-US" sz="1300" dirty="0"/>
          </a:p>
        </p:txBody>
      </p:sp>
      <p:sp>
        <p:nvSpPr>
          <p:cNvPr id="14" name="Text 12"/>
          <p:cNvSpPr txBox="1"/>
          <p:nvPr/>
        </p:nvSpPr>
        <p:spPr>
          <a:xfrm>
            <a:off x="7726680" y="2240280"/>
            <a:ext cx="640080" cy="1828800"/>
          </a:xfrm>
          <a:prstGeom prst="rect">
            <a:avLst/>
          </a:prstGeom>
          <a:noFill/>
          <a:ln/>
        </p:spPr>
        <p:txBody>
          <a:bodyPr wrap="square" lIns="0" tIns="0" rIns="0" bIns="0" rtlCol="0" anchor="ctr"/>
          <a:lstStyle/>
          <a:p>
            <a:pPr algn="ctr" indent="0" marL="0">
              <a:buNone/>
            </a:pPr>
            <a:r>
              <a:rPr lang="en-US" sz="2400" b="1" dirty="0">
                <a:solidFill>
                  <a:srgbClr val="9A9A9A"/>
                </a:solidFill>
                <a:latin typeface="Courier New" pitchFamily="34" charset="0"/>
                <a:ea typeface="Courier New" pitchFamily="34" charset="-122"/>
                <a:cs typeface="Courier New" pitchFamily="34" charset="-120"/>
              </a:rPr>
              <a:t>-&gt;</a:t>
            </a:r>
            <a:endParaRPr lang="en-US" sz="2400" dirty="0"/>
          </a:p>
        </p:txBody>
      </p:sp>
      <p:sp>
        <p:nvSpPr>
          <p:cNvPr id="15" name="Shape 13"/>
          <p:cNvSpPr/>
          <p:nvPr/>
        </p:nvSpPr>
        <p:spPr>
          <a:xfrm>
            <a:off x="8366760" y="2240280"/>
            <a:ext cx="3017520" cy="1828800"/>
          </a:xfrm>
          <a:prstGeom prst="roundRect">
            <a:avLst>
              <a:gd name="adj" fmla="val 4000"/>
            </a:avLst>
          </a:prstGeom>
          <a:solidFill>
            <a:srgbClr val="141417"/>
          </a:solidFill>
          <a:ln w="19050">
            <a:solidFill>
              <a:srgbClr val="8A754C"/>
            </a:solidFill>
            <a:prstDash val="solid"/>
          </a:ln>
        </p:spPr>
      </p:sp>
      <p:sp>
        <p:nvSpPr>
          <p:cNvPr id="16" name="Text 14"/>
          <p:cNvSpPr txBox="1"/>
          <p:nvPr/>
        </p:nvSpPr>
        <p:spPr>
          <a:xfrm>
            <a:off x="8503920" y="2496312"/>
            <a:ext cx="2743200" cy="411480"/>
          </a:xfrm>
          <a:prstGeom prst="rect">
            <a:avLst/>
          </a:prstGeom>
          <a:noFill/>
          <a:ln/>
        </p:spPr>
        <p:txBody>
          <a:bodyPr wrap="square" lIns="0" tIns="0" rIns="0" bIns="0" rtlCol="0" anchor="ctr"/>
          <a:lstStyle/>
          <a:p>
            <a:pPr algn="ctr" indent="0" marL="0">
              <a:buNone/>
            </a:pPr>
            <a:r>
              <a:rPr lang="en-US" sz="1600" dirty="0">
                <a:solidFill>
                  <a:srgbClr val="D9A94E"/>
                </a:solidFill>
                <a:latin typeface="Courier New" pitchFamily="34" charset="0"/>
                <a:ea typeface="Courier New" pitchFamily="34" charset="-122"/>
                <a:cs typeface="Courier New" pitchFamily="34" charset="-120"/>
              </a:rPr>
              <a:t>target ISA</a:t>
            </a:r>
            <a:endParaRPr lang="en-US" sz="1600" dirty="0"/>
          </a:p>
        </p:txBody>
      </p:sp>
      <p:sp>
        <p:nvSpPr>
          <p:cNvPr id="17" name="Text 15"/>
          <p:cNvSpPr txBox="1"/>
          <p:nvPr/>
        </p:nvSpPr>
        <p:spPr>
          <a:xfrm>
            <a:off x="8503920" y="3063240"/>
            <a:ext cx="2743200" cy="822960"/>
          </a:xfrm>
          <a:prstGeom prst="rect">
            <a:avLst/>
          </a:prstGeom>
          <a:noFill/>
          <a:ln/>
        </p:spPr>
        <p:txBody>
          <a:bodyPr wrap="square" lIns="0" tIns="0" rIns="0" bIns="0" rtlCol="0" anchor="ctr"/>
          <a:lstStyle/>
          <a:p>
            <a:pPr algn="ctr" indent="0" marL="0">
              <a:buNone/>
            </a:pPr>
            <a:r>
              <a:rPr lang="en-US" sz="1300" dirty="0">
                <a:solidFill>
                  <a:srgbClr val="9A9A9A"/>
                </a:solidFill>
                <a:latin typeface="Calibri" pitchFamily="34" charset="0"/>
                <a:ea typeface="Calibri" pitchFamily="34" charset="-122"/>
                <a:cs typeface="Calibri" pitchFamily="34" charset="-120"/>
              </a:rPr>
              <a:t>generated code for</a:t>
            </a:r>
            <a:endParaRPr lang="en-US" sz="1300" dirty="0"/>
          </a:p>
          <a:p>
            <a:pPr algn="ctr" indent="0" marL="0">
              <a:buNone/>
            </a:pPr>
            <a:r>
              <a:rPr lang="en-US" sz="1300" dirty="0">
                <a:solidFill>
                  <a:srgbClr val="9A9A9A"/>
                </a:solidFill>
                <a:latin typeface="Calibri" pitchFamily="34" charset="0"/>
                <a:ea typeface="Calibri" pitchFamily="34" charset="-122"/>
                <a:cs typeface="Calibri" pitchFamily="34" charset="-120"/>
              </a:rPr>
              <a:t>that chip</a:t>
            </a:r>
            <a:endParaRPr lang="en-US" sz="1300" dirty="0"/>
          </a:p>
        </p:txBody>
      </p:sp>
      <p:sp>
        <p:nvSpPr>
          <p:cNvPr id="18" name="Text 16"/>
          <p:cNvSpPr txBox="1"/>
          <p:nvPr/>
        </p:nvSpPr>
        <p:spPr>
          <a:xfrm>
            <a:off x="731520" y="4526280"/>
            <a:ext cx="10652760" cy="365760"/>
          </a:xfrm>
          <a:prstGeom prst="rect">
            <a:avLst/>
          </a:prstGeom>
          <a:noFill/>
          <a:ln/>
        </p:spPr>
        <p:txBody>
          <a:bodyPr wrap="square" lIns="0" tIns="0" rIns="0" bIns="0" rtlCol="0" anchor="ctr"/>
          <a:lstStyle/>
          <a:p>
            <a:pPr algn="ctr" indent="0" marL="0">
              <a:buNone/>
            </a:pPr>
            <a:r>
              <a:rPr lang="en-US" sz="1400" i="1" dirty="0">
                <a:solidFill>
                  <a:srgbClr val="D9A94E"/>
                </a:solidFill>
                <a:latin typeface="Calibri" pitchFamily="34" charset="0"/>
                <a:ea typeface="Calibri" pitchFamily="34" charset="-122"/>
                <a:cs typeface="Calibri" pitchFamily="34" charset="-120"/>
              </a:rPr>
              <a:t>swap this file for a new chip: nothing else in the compiler changes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F"/>
        </a:solidFill>
      </p:bgPr>
    </p:bg>
    <p:spTree>
      <p:nvGrpSpPr>
        <p:cNvPr id="1" name=""/>
        <p:cNvGrpSpPr/>
        <p:nvPr/>
      </p:nvGrpSpPr>
      <p:grpSpPr>
        <a:xfrm>
          <a:off x="0" y="0"/>
          <a:ext cx="0" cy="0"/>
          <a:chOff x="0" y="0"/>
          <a:chExt cx="0" cy="0"/>
        </a:xfrm>
      </p:grpSpPr>
      <p:sp>
        <p:nvSpPr>
          <p:cNvPr id="2" name="Shape 0"/>
          <p:cNvSpPr/>
          <p:nvPr/>
        </p:nvSpPr>
        <p:spPr>
          <a:xfrm>
            <a:off x="457200" y="256032"/>
            <a:ext cx="1508760" cy="402336"/>
          </a:xfrm>
          <a:prstGeom prst="roundRect">
            <a:avLst>
              <a:gd name="adj" fmla="val 18182"/>
            </a:avLst>
          </a:prstGeom>
          <a:solidFill>
            <a:srgbClr val="0D0D0F"/>
          </a:solidFill>
          <a:ln w="12700">
            <a:solidFill>
              <a:srgbClr val="8A754C"/>
            </a:solidFill>
            <a:prstDash val="solid"/>
          </a:ln>
        </p:spPr>
      </p:sp>
      <p:sp>
        <p:nvSpPr>
          <p:cNvPr id="3" name="Text 1"/>
          <p:cNvSpPr txBox="1"/>
          <p:nvPr/>
        </p:nvSpPr>
        <p:spPr>
          <a:xfrm>
            <a:off x="457200" y="256032"/>
            <a:ext cx="1508760" cy="402336"/>
          </a:xfrm>
          <a:prstGeom prst="rect">
            <a:avLst/>
          </a:prstGeom>
          <a:noFill/>
          <a:ln/>
        </p:spPr>
        <p:txBody>
          <a:bodyPr wrap="square" lIns="0" tIns="0" rIns="0" bIns="0" rtlCol="0" anchor="ctr"/>
          <a:lstStyle/>
          <a:p>
            <a:pPr algn="ctr" indent="0" marL="0">
              <a:buNone/>
            </a:pPr>
            <a:r>
              <a:rPr lang="en-US" sz="1150" b="1" dirty="0">
                <a:solidFill>
                  <a:srgbClr val="D9A94E"/>
                </a:solidFill>
                <a:latin typeface="Courier New" pitchFamily="34" charset="0"/>
                <a:ea typeface="Courier New" pitchFamily="34" charset="-122"/>
                <a:cs typeface="Courier New" pitchFamily="34" charset="-120"/>
              </a:rPr>
              <a:t>ValiumX</a:t>
            </a:r>
            <a:endParaRPr lang="en-US" sz="1150" dirty="0"/>
          </a:p>
        </p:txBody>
      </p:sp>
      <p:sp>
        <p:nvSpPr>
          <p:cNvPr id="4" name="Text 2"/>
          <p:cNvSpPr txBox="1"/>
          <p:nvPr/>
        </p:nvSpPr>
        <p:spPr>
          <a:xfrm>
            <a:off x="2148840" y="201168"/>
            <a:ext cx="9418320" cy="502920"/>
          </a:xfrm>
          <a:prstGeom prst="rect">
            <a:avLst/>
          </a:prstGeom>
          <a:noFill/>
          <a:ln/>
        </p:spPr>
        <p:txBody>
          <a:bodyPr wrap="square" lIns="0" tIns="0" rIns="0" bIns="0" rtlCol="0" anchor="ctr"/>
          <a:lstStyle/>
          <a:p>
            <a:pPr algn="l" indent="0" marL="0">
              <a:buNone/>
            </a:pPr>
            <a:r>
              <a:rPr lang="en-US" sz="2300" b="1" dirty="0">
                <a:solidFill>
                  <a:srgbClr val="F2F2F2"/>
                </a:solidFill>
                <a:latin typeface="Calibri" pitchFamily="34" charset="0"/>
                <a:ea typeface="Calibri" pitchFamily="34" charset="-122"/>
                <a:cs typeface="Calibri" pitchFamily="34" charset="-120"/>
              </a:rPr>
              <a:t>From PyTorch call to hardware IR</a:t>
            </a:r>
            <a:endParaRPr lang="en-US" sz="2300" dirty="0"/>
          </a:p>
        </p:txBody>
      </p:sp>
      <p:sp>
        <p:nvSpPr>
          <p:cNvPr id="5" name="Text 3"/>
          <p:cNvSpPr txBox="1"/>
          <p:nvPr/>
        </p:nvSpPr>
        <p:spPr>
          <a:xfrm>
            <a:off x="11338560" y="6473952"/>
            <a:ext cx="548640"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4</a:t>
            </a:r>
            <a:endParaRPr lang="en-US" sz="1100" dirty="0"/>
          </a:p>
        </p:txBody>
      </p:sp>
      <p:sp>
        <p:nvSpPr>
          <p:cNvPr id="6" name="Text 4"/>
          <p:cNvSpPr txBox="1"/>
          <p:nvPr/>
        </p:nvSpPr>
        <p:spPr>
          <a:xfrm>
            <a:off x="548640" y="868680"/>
            <a:ext cx="11064240" cy="45720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torch.compile hooks in at the top. By the time the kernel reaches our IR, every load, store and multiply is a typed, schema-costed operation.</a:t>
            </a:r>
            <a:endParaRPr lang="en-US" sz="1400" dirty="0"/>
          </a:p>
        </p:txBody>
      </p:sp>
      <p:sp>
        <p:nvSpPr>
          <p:cNvPr id="7" name="Shape 5"/>
          <p:cNvSpPr/>
          <p:nvPr/>
        </p:nvSpPr>
        <p:spPr>
          <a:xfrm>
            <a:off x="502920" y="1417320"/>
            <a:ext cx="5047488" cy="4282563"/>
          </a:xfrm>
          <a:prstGeom prst="rect">
            <a:avLst/>
          </a:prstGeom>
          <a:solidFill>
            <a:srgbClr val="141417"/>
          </a:solidFill>
          <a:ln w="15875">
            <a:solidFill>
              <a:srgbClr val="8A754C"/>
            </a:solidFill>
            <a:prstDash val="solid"/>
          </a:ln>
        </p:spPr>
      </p:sp>
      <p:pic>
        <p:nvPicPr>
          <p:cNvPr id="8" name="Image 0" descr="/home/bb/Downloads/94b0c0e0-f3cd-45bf-90bf-b761410fbc36.png">    </p:cNvPr>
          <p:cNvPicPr>
            <a:picLocks noChangeAspect="1"/>
          </p:cNvPicPr>
          <p:nvPr/>
        </p:nvPicPr>
        <p:blipFill>
          <a:blip r:embed="rId1"/>
          <a:stretch>
            <a:fillRect/>
          </a:stretch>
        </p:blipFill>
        <p:spPr>
          <a:xfrm>
            <a:off x="557784" y="1472184"/>
            <a:ext cx="4937760" cy="4172835"/>
          </a:xfrm>
          <a:prstGeom prst="rect">
            <a:avLst/>
          </a:prstGeom>
        </p:spPr>
      </p:pic>
      <p:sp>
        <p:nvSpPr>
          <p:cNvPr id="9" name="Text 6"/>
          <p:cNvSpPr txBox="1"/>
          <p:nvPr/>
        </p:nvSpPr>
        <p:spPr>
          <a:xfrm>
            <a:off x="502920" y="5754747"/>
            <a:ext cx="5120640" cy="320040"/>
          </a:xfrm>
          <a:prstGeom prst="rect">
            <a:avLst/>
          </a:prstGeom>
          <a:noFill/>
          <a:ln/>
        </p:spPr>
        <p:txBody>
          <a:bodyPr wrap="square" lIns="0" tIns="0" rIns="0" bIns="0" rtlCol="0" anchor="ctr"/>
          <a:lstStyle/>
          <a:p>
            <a:pPr algn="l" indent="0" marL="0">
              <a:buNone/>
            </a:pPr>
            <a:r>
              <a:rPr lang="en-US" sz="1100" i="1" dirty="0">
                <a:solidFill>
                  <a:srgbClr val="9A9A9A"/>
                </a:solidFill>
                <a:latin typeface="Calibri" pitchFamily="34" charset="0"/>
                <a:ea typeface="Calibri" pitchFamily="34" charset="-122"/>
                <a:cs typeface="Calibri" pitchFamily="34" charset="-120"/>
              </a:rPr>
              <a:t>real output: PyTorch source lowered to Triton JIT kernel template</a:t>
            </a:r>
            <a:endParaRPr lang="en-US" sz="1100" dirty="0"/>
          </a:p>
        </p:txBody>
      </p:sp>
      <p:sp>
        <p:nvSpPr>
          <p:cNvPr id="10" name="Shape 7"/>
          <p:cNvSpPr/>
          <p:nvPr/>
        </p:nvSpPr>
        <p:spPr>
          <a:xfrm>
            <a:off x="5669280" y="1600200"/>
            <a:ext cx="6327648" cy="1599885"/>
          </a:xfrm>
          <a:prstGeom prst="rect">
            <a:avLst/>
          </a:prstGeom>
          <a:solidFill>
            <a:srgbClr val="141417"/>
          </a:solidFill>
          <a:ln w="15875">
            <a:solidFill>
              <a:srgbClr val="8A754C"/>
            </a:solidFill>
            <a:prstDash val="solid"/>
          </a:ln>
        </p:spPr>
      </p:sp>
      <p:pic>
        <p:nvPicPr>
          <p:cNvPr id="11" name="Image 1" descr="/home/bb/Downloads/31f695cf-7c6b-45ea-b6ce-09a5def5b7b8.png">    </p:cNvPr>
          <p:cNvPicPr>
            <a:picLocks noChangeAspect="1"/>
          </p:cNvPicPr>
          <p:nvPr/>
        </p:nvPicPr>
        <p:blipFill>
          <a:blip r:embed="rId2"/>
          <a:stretch>
            <a:fillRect/>
          </a:stretch>
        </p:blipFill>
        <p:spPr>
          <a:xfrm>
            <a:off x="5724144" y="1655064"/>
            <a:ext cx="6217920" cy="1490157"/>
          </a:xfrm>
          <a:prstGeom prst="rect">
            <a:avLst/>
          </a:prstGeom>
        </p:spPr>
      </p:pic>
      <p:sp>
        <p:nvSpPr>
          <p:cNvPr id="12" name="Text 8"/>
          <p:cNvSpPr txBox="1"/>
          <p:nvPr/>
        </p:nvSpPr>
        <p:spPr>
          <a:xfrm>
            <a:off x="5669280" y="3254949"/>
            <a:ext cx="6217920" cy="320040"/>
          </a:xfrm>
          <a:prstGeom prst="rect">
            <a:avLst/>
          </a:prstGeom>
          <a:noFill/>
          <a:ln/>
        </p:spPr>
        <p:txBody>
          <a:bodyPr wrap="square" lIns="0" tIns="0" rIns="0" bIns="0" rtlCol="0" anchor="ctr"/>
          <a:lstStyle/>
          <a:p>
            <a:pPr algn="l" indent="0" marL="0">
              <a:buNone/>
            </a:pPr>
            <a:r>
              <a:rPr lang="en-US" sz="1100" i="1" dirty="0">
                <a:solidFill>
                  <a:srgbClr val="9A9A9A"/>
                </a:solidFill>
                <a:latin typeface="Calibri" pitchFamily="34" charset="0"/>
                <a:ea typeface="Calibri" pitchFamily="34" charset="-122"/>
                <a:cs typeface="Calibri" pitchFamily="34" charset="-120"/>
              </a:rPr>
              <a:t>160 lines of TTIR for one 64x64x32 matmul: lowers to all ISA backends</a:t>
            </a:r>
            <a:endParaRPr lang="en-US" sz="1100" dirty="0"/>
          </a:p>
        </p:txBody>
      </p:sp>
      <p:sp>
        <p:nvSpPr>
          <p:cNvPr id="13" name="Shape 9"/>
          <p:cNvSpPr/>
          <p:nvPr/>
        </p:nvSpPr>
        <p:spPr>
          <a:xfrm>
            <a:off x="5669280" y="3593277"/>
            <a:ext cx="6327648" cy="1920240"/>
          </a:xfrm>
          <a:prstGeom prst="rect">
            <a:avLst/>
          </a:prstGeom>
          <a:solidFill>
            <a:srgbClr val="141417"/>
          </a:solidFill>
          <a:ln w="15875">
            <a:solidFill>
              <a:srgbClr val="8A754C"/>
            </a:solidFill>
            <a:prstDash val="solid"/>
          </a:ln>
        </p:spPr>
      </p:sp>
      <p:sp>
        <p:nvSpPr>
          <p:cNvPr id="14" name="Text 10"/>
          <p:cNvSpPr txBox="1"/>
          <p:nvPr/>
        </p:nvSpPr>
        <p:spPr>
          <a:xfrm>
            <a:off x="5806440" y="3456117"/>
            <a:ext cx="6053328" cy="274320"/>
          </a:xfrm>
          <a:prstGeom prst="rect">
            <a:avLst/>
          </a:prstGeom>
          <a:solidFill>
            <a:srgbClr val="0D0D0F"/>
          </a:solidFill>
          <a:ln/>
        </p:spPr>
        <p:txBody>
          <a:bodyPr wrap="square" lIns="0" tIns="0" rIns="0" bIns="0" rtlCol="0" anchor="ctr"/>
          <a:lstStyle/>
          <a:p>
            <a:pPr algn="l" indent="0" marL="0">
              <a:buNone/>
            </a:pPr>
            <a:r>
              <a:rPr lang="en-US" sz="1050" dirty="0">
                <a:solidFill>
                  <a:srgbClr val="8A754C"/>
                </a:solidFill>
                <a:latin typeface="Courier New" pitchFamily="34" charset="0"/>
                <a:ea typeface="Courier New" pitchFamily="34" charset="-122"/>
                <a:cs typeface="Courier New" pitchFamily="34" charset="-120"/>
              </a:rPr>
              <a:t>TTIR Normalization</a:t>
            </a:r>
            <a:endParaRPr lang="en-US" sz="1050" dirty="0"/>
          </a:p>
        </p:txBody>
      </p:sp>
      <p:sp>
        <p:nvSpPr>
          <p:cNvPr id="15" name="Text 11"/>
          <p:cNvSpPr txBox="1"/>
          <p:nvPr/>
        </p:nvSpPr>
        <p:spPr>
          <a:xfrm>
            <a:off x="5806440" y="3913317"/>
            <a:ext cx="6035040" cy="1417320"/>
          </a:xfrm>
          <a:prstGeom prst="rect">
            <a:avLst/>
          </a:prstGeom>
          <a:noFill/>
          <a:ln/>
        </p:spPr>
        <p:txBody>
          <a:bodyPr wrap="square" lIns="0" tIns="0" rIns="0" bIns="0" rtlCol="0" anchor="ctr"/>
          <a:lstStyle/>
          <a:p>
            <a:pPr indent="0" marL="0">
              <a:buNone/>
            </a:pPr>
            <a:r>
              <a:rPr lang="en-US" sz="1300" dirty="0">
                <a:solidFill>
                  <a:srgbClr val="F2F2F2"/>
                </a:solidFill>
                <a:latin typeface="Calibri" pitchFamily="34" charset="0"/>
                <a:ea typeface="Calibri" pitchFamily="34" charset="-122"/>
                <a:cs typeface="Calibri" pitchFamily="34" charset="-120"/>
              </a:rPr>
              <a:t>• Preserves high-level tensor shapes &amp; precision (tf32, f16, i32)</a:t>
            </a:r>
            <a:endParaRPr lang="en-US" sz="1300" dirty="0"/>
          </a:p>
          <a:p>
            <a:pPr indent="0" marL="0">
              <a:buNone/>
            </a:pPr>
            <a:r>
              <a:rPr lang="en-US" sz="1300" dirty="0">
                <a:solidFill>
                  <a:srgbClr val="F2F2F2"/>
                </a:solidFill>
                <a:latin typeface="Calibri" pitchFamily="34" charset="0"/>
                <a:ea typeface="Calibri" pitchFamily="34" charset="-122"/>
                <a:cs typeface="Calibri" pitchFamily="34" charset="-120"/>
              </a:rPr>
              <a:t>• Eliminates framework dynamic graph overhead via torch.compile</a:t>
            </a:r>
            <a:endParaRPr lang="en-US" sz="1300" dirty="0"/>
          </a:p>
          <a:p>
            <a:pPr indent="0" marL="0">
              <a:buNone/>
            </a:pPr>
            <a:r>
              <a:rPr lang="en-US" sz="1300" dirty="0">
                <a:solidFill>
                  <a:srgbClr val="F2F2F2"/>
                </a:solidFill>
                <a:latin typeface="Calibri" pitchFamily="34" charset="0"/>
                <a:ea typeface="Calibri" pitchFamily="34" charset="-122"/>
                <a:cs typeface="Calibri" pitchFamily="34" charset="-120"/>
              </a:rPr>
              <a:t>• Shared intermediate point: identical input for every accelerator target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F"/>
        </a:solidFill>
      </p:bgPr>
    </p:bg>
    <p:spTree>
      <p:nvGrpSpPr>
        <p:cNvPr id="1" name=""/>
        <p:cNvGrpSpPr/>
        <p:nvPr/>
      </p:nvGrpSpPr>
      <p:grpSpPr>
        <a:xfrm>
          <a:off x="0" y="0"/>
          <a:ext cx="0" cy="0"/>
          <a:chOff x="0" y="0"/>
          <a:chExt cx="0" cy="0"/>
        </a:xfrm>
      </p:grpSpPr>
      <p:sp>
        <p:nvSpPr>
          <p:cNvPr id="2" name="Shape 0"/>
          <p:cNvSpPr/>
          <p:nvPr/>
        </p:nvSpPr>
        <p:spPr>
          <a:xfrm>
            <a:off x="457200" y="256032"/>
            <a:ext cx="1508760" cy="402336"/>
          </a:xfrm>
          <a:prstGeom prst="roundRect">
            <a:avLst>
              <a:gd name="adj" fmla="val 18182"/>
            </a:avLst>
          </a:prstGeom>
          <a:solidFill>
            <a:srgbClr val="0D0D0F"/>
          </a:solidFill>
          <a:ln w="12700">
            <a:solidFill>
              <a:srgbClr val="8A754C"/>
            </a:solidFill>
            <a:prstDash val="solid"/>
          </a:ln>
        </p:spPr>
      </p:sp>
      <p:sp>
        <p:nvSpPr>
          <p:cNvPr id="3" name="Text 1"/>
          <p:cNvSpPr txBox="1"/>
          <p:nvPr/>
        </p:nvSpPr>
        <p:spPr>
          <a:xfrm>
            <a:off x="457200" y="256032"/>
            <a:ext cx="1508760" cy="402336"/>
          </a:xfrm>
          <a:prstGeom prst="rect">
            <a:avLst/>
          </a:prstGeom>
          <a:noFill/>
          <a:ln/>
        </p:spPr>
        <p:txBody>
          <a:bodyPr wrap="square" lIns="0" tIns="0" rIns="0" bIns="0" rtlCol="0" anchor="ctr"/>
          <a:lstStyle/>
          <a:p>
            <a:pPr algn="ctr" indent="0" marL="0">
              <a:buNone/>
            </a:pPr>
            <a:r>
              <a:rPr lang="en-US" sz="1150" b="1" dirty="0">
                <a:solidFill>
                  <a:srgbClr val="D9A94E"/>
                </a:solidFill>
                <a:latin typeface="Courier New" pitchFamily="34" charset="0"/>
                <a:ea typeface="Courier New" pitchFamily="34" charset="-122"/>
                <a:cs typeface="Courier New" pitchFamily="34" charset="-120"/>
              </a:rPr>
              <a:t>ValiumX</a:t>
            </a:r>
            <a:endParaRPr lang="en-US" sz="1150" dirty="0"/>
          </a:p>
        </p:txBody>
      </p:sp>
      <p:sp>
        <p:nvSpPr>
          <p:cNvPr id="4" name="Text 2"/>
          <p:cNvSpPr txBox="1"/>
          <p:nvPr/>
        </p:nvSpPr>
        <p:spPr>
          <a:xfrm>
            <a:off x="2148840" y="201168"/>
            <a:ext cx="9418320" cy="502920"/>
          </a:xfrm>
          <a:prstGeom prst="rect">
            <a:avLst/>
          </a:prstGeom>
          <a:noFill/>
          <a:ln/>
        </p:spPr>
        <p:txBody>
          <a:bodyPr wrap="square" lIns="0" tIns="0" rIns="0" bIns="0" rtlCol="0" anchor="ctr"/>
          <a:lstStyle/>
          <a:p>
            <a:pPr algn="l" indent="0" marL="0">
              <a:buNone/>
            </a:pPr>
            <a:r>
              <a:rPr lang="en-US" sz="2300" b="1" dirty="0">
                <a:solidFill>
                  <a:srgbClr val="F2F2F2"/>
                </a:solidFill>
                <a:latin typeface="Calibri" pitchFamily="34" charset="0"/>
                <a:ea typeface="Calibri" pitchFamily="34" charset="-122"/>
                <a:cs typeface="Calibri" pitchFamily="34" charset="-120"/>
              </a:rPr>
              <a:t>Address math elision: 18 instructions to 4</a:t>
            </a:r>
            <a:endParaRPr lang="en-US" sz="2300" dirty="0"/>
          </a:p>
        </p:txBody>
      </p:sp>
      <p:sp>
        <p:nvSpPr>
          <p:cNvPr id="5" name="Text 3"/>
          <p:cNvSpPr txBox="1"/>
          <p:nvPr/>
        </p:nvSpPr>
        <p:spPr>
          <a:xfrm>
            <a:off x="11338560" y="6473952"/>
            <a:ext cx="548640"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5</a:t>
            </a:r>
            <a:endParaRPr lang="en-US" sz="1100" dirty="0"/>
          </a:p>
        </p:txBody>
      </p:sp>
      <p:sp>
        <p:nvSpPr>
          <p:cNvPr id="6" name="Text 4"/>
          <p:cNvSpPr txBox="1"/>
          <p:nvPr/>
        </p:nvSpPr>
        <p:spPr>
          <a:xfrm>
            <a:off x="548640" y="868680"/>
            <a:ext cx="11064240" cy="45720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Hardware accelerators have multidimensional DMA and tensor load engines. TritonFlow proves affine bounds and elides 14 scalar address-math instructions.</a:t>
            </a:r>
            <a:endParaRPr lang="en-US" sz="1400" dirty="0"/>
          </a:p>
        </p:txBody>
      </p:sp>
      <p:sp>
        <p:nvSpPr>
          <p:cNvPr id="7" name="Shape 5"/>
          <p:cNvSpPr/>
          <p:nvPr/>
        </p:nvSpPr>
        <p:spPr>
          <a:xfrm>
            <a:off x="502920" y="1417320"/>
            <a:ext cx="7242048" cy="4780227"/>
          </a:xfrm>
          <a:prstGeom prst="rect">
            <a:avLst/>
          </a:prstGeom>
          <a:solidFill>
            <a:srgbClr val="141417"/>
          </a:solidFill>
          <a:ln w="15875">
            <a:solidFill>
              <a:srgbClr val="8A754C"/>
            </a:solidFill>
            <a:prstDash val="solid"/>
          </a:ln>
        </p:spPr>
      </p:sp>
      <p:sp>
        <p:nvSpPr>
          <p:cNvPr id="8" name="Text 6"/>
          <p:cNvSpPr txBox="1"/>
          <p:nvPr/>
        </p:nvSpPr>
        <p:spPr>
          <a:xfrm>
            <a:off x="640080" y="1280160"/>
            <a:ext cx="6967728" cy="274320"/>
          </a:xfrm>
          <a:prstGeom prst="rect">
            <a:avLst/>
          </a:prstGeom>
          <a:solidFill>
            <a:srgbClr val="0D0D0F"/>
          </a:solidFill>
          <a:ln/>
        </p:spPr>
        <p:txBody>
          <a:bodyPr wrap="square" lIns="0" tIns="0" rIns="0" bIns="0" rtlCol="0" anchor="ctr"/>
          <a:lstStyle/>
          <a:p>
            <a:pPr algn="l" indent="0" marL="0">
              <a:buNone/>
            </a:pPr>
            <a:r>
              <a:rPr lang="en-US" sz="1050" dirty="0">
                <a:solidFill>
                  <a:srgbClr val="8A754C"/>
                </a:solidFill>
                <a:latin typeface="Courier New" pitchFamily="34" charset="0"/>
                <a:ea typeface="Courier New" pitchFamily="34" charset="-122"/>
                <a:cs typeface="Courier New" pitchFamily="34" charset="-120"/>
              </a:rPr>
              <a:t>Unified Diff: Pre-ISA TTIR to VORTEX_RVGPU Lowering</a:t>
            </a:r>
            <a:endParaRPr lang="en-US" sz="1050" dirty="0"/>
          </a:p>
        </p:txBody>
      </p:sp>
      <p:pic>
        <p:nvPicPr>
          <p:cNvPr id="9" name="Image 0" descr="/home/bb/Downloads/ebeaad4b-66be-4ec6-bfd3-26324f7148ec.png">    </p:cNvPr>
          <p:cNvPicPr>
            <a:picLocks noChangeAspect="1"/>
          </p:cNvPicPr>
          <p:nvPr/>
        </p:nvPicPr>
        <p:blipFill>
          <a:blip r:embed="rId1"/>
          <a:stretch>
            <a:fillRect/>
          </a:stretch>
        </p:blipFill>
        <p:spPr>
          <a:xfrm>
            <a:off x="557784" y="1472184"/>
            <a:ext cx="7132320" cy="4670499"/>
          </a:xfrm>
          <a:prstGeom prst="rect">
            <a:avLst/>
          </a:prstGeom>
        </p:spPr>
      </p:pic>
      <p:sp>
        <p:nvSpPr>
          <p:cNvPr id="10" name="Text 7"/>
          <p:cNvSpPr txBox="1"/>
          <p:nvPr/>
        </p:nvSpPr>
        <p:spPr>
          <a:xfrm>
            <a:off x="502920" y="6252411"/>
            <a:ext cx="7132320" cy="320040"/>
          </a:xfrm>
          <a:prstGeom prst="rect">
            <a:avLst/>
          </a:prstGeom>
          <a:noFill/>
          <a:ln/>
        </p:spPr>
        <p:txBody>
          <a:bodyPr wrap="square" lIns="0" tIns="0" rIns="0" bIns="0" rtlCol="0" anchor="ctr"/>
          <a:lstStyle/>
          <a:p>
            <a:pPr algn="l" indent="0" marL="0">
              <a:buNone/>
            </a:pPr>
            <a:r>
              <a:rPr lang="en-US" sz="1100" i="1" dirty="0">
                <a:solidFill>
                  <a:srgbClr val="9A9A9A"/>
                </a:solidFill>
                <a:latin typeface="Calibri" pitchFamily="34" charset="0"/>
                <a:ea typeface="Calibri" pitchFamily="34" charset="-122"/>
                <a:cs typeface="Calibri" pitchFamily="34" charset="-120"/>
              </a:rPr>
              <a:t>14 address-math ops subsumed directly into target 2D tile memory descriptors</a:t>
            </a:r>
            <a:endParaRPr lang="en-US" sz="1100" dirty="0"/>
          </a:p>
        </p:txBody>
      </p:sp>
      <p:sp>
        <p:nvSpPr>
          <p:cNvPr id="11" name="Shape 8"/>
          <p:cNvSpPr/>
          <p:nvPr/>
        </p:nvSpPr>
        <p:spPr>
          <a:xfrm>
            <a:off x="7909560" y="1417320"/>
            <a:ext cx="3840480" cy="2103120"/>
          </a:xfrm>
          <a:prstGeom prst="rect">
            <a:avLst/>
          </a:prstGeom>
          <a:solidFill>
            <a:srgbClr val="141417"/>
          </a:solidFill>
          <a:ln w="15875">
            <a:solidFill>
              <a:srgbClr val="3ECF6E"/>
            </a:solidFill>
            <a:prstDash val="solid"/>
          </a:ln>
        </p:spPr>
      </p:sp>
      <p:sp>
        <p:nvSpPr>
          <p:cNvPr id="12" name="Text 9"/>
          <p:cNvSpPr txBox="1"/>
          <p:nvPr/>
        </p:nvSpPr>
        <p:spPr>
          <a:xfrm>
            <a:off x="8046720" y="1280160"/>
            <a:ext cx="3566160" cy="274320"/>
          </a:xfrm>
          <a:prstGeom prst="rect">
            <a:avLst/>
          </a:prstGeom>
          <a:solidFill>
            <a:srgbClr val="0D0D0F"/>
          </a:solidFill>
          <a:ln/>
        </p:spPr>
        <p:txBody>
          <a:bodyPr wrap="square" lIns="0" tIns="0" rIns="0" bIns="0" rtlCol="0" anchor="ctr"/>
          <a:lstStyle/>
          <a:p>
            <a:pPr algn="l" indent="0" marL="0">
              <a:buNone/>
            </a:pPr>
            <a:r>
              <a:rPr lang="en-US" sz="1050" dirty="0">
                <a:solidFill>
                  <a:srgbClr val="3ECF6E"/>
                </a:solidFill>
                <a:latin typeface="Courier New" pitchFamily="34" charset="0"/>
                <a:ea typeface="Courier New" pitchFamily="34" charset="-122"/>
                <a:cs typeface="Courier New" pitchFamily="34" charset="-120"/>
              </a:rPr>
              <a:t>Instruction Reduction</a:t>
            </a:r>
            <a:endParaRPr lang="en-US" sz="1050" dirty="0"/>
          </a:p>
        </p:txBody>
      </p:sp>
      <p:sp>
        <p:nvSpPr>
          <p:cNvPr id="13" name="Text 10"/>
          <p:cNvSpPr txBox="1"/>
          <p:nvPr/>
        </p:nvSpPr>
        <p:spPr>
          <a:xfrm>
            <a:off x="8092440" y="1737360"/>
            <a:ext cx="3474720" cy="1645920"/>
          </a:xfrm>
          <a:prstGeom prst="rect">
            <a:avLst/>
          </a:prstGeom>
          <a:noFill/>
          <a:ln/>
        </p:spPr>
        <p:txBody>
          <a:bodyPr wrap="square" lIns="0" tIns="0" rIns="0" bIns="0" rtlCol="0" anchor="ctr"/>
          <a:lstStyle/>
          <a:p>
            <a:pPr indent="0" marL="0">
              <a:buNone/>
            </a:pPr>
            <a:r>
              <a:rPr lang="en-US" sz="1300" dirty="0">
                <a:solidFill>
                  <a:srgbClr val="F2F2F2"/>
                </a:solidFill>
                <a:latin typeface="Calibri" pitchFamily="34" charset="0"/>
                <a:ea typeface="Calibri" pitchFamily="34" charset="-122"/>
                <a:cs typeface="Calibri" pitchFamily="34" charset="-120"/>
              </a:rPr>
              <a:t>18 -&gt; 4 Target Instructions</a:t>
            </a:r>
            <a:endParaRPr lang="en-US" sz="1300" dirty="0"/>
          </a:p>
          <a:p>
            <a:pPr indent="0" marL="0">
              <a:buNone/>
            </a:pPr>
            <a:endParaRPr lang="en-US" sz="1300" dirty="0"/>
          </a:p>
          <a:p>
            <a:pPr indent="0" marL="0">
              <a:buNone/>
            </a:pPr>
            <a:r>
              <a:rPr lang="en-US" sz="1300" dirty="0">
                <a:solidFill>
                  <a:srgbClr val="F2F2F2"/>
                </a:solidFill>
                <a:latin typeface="Calibri" pitchFamily="34" charset="0"/>
                <a:ea typeface="Calibri" pitchFamily="34" charset="-122"/>
                <a:cs typeface="Calibri" pitchFamily="34" charset="-120"/>
              </a:rPr>
              <a:t>• Elides scalar multiplications (arith.muli)</a:t>
            </a:r>
            <a:endParaRPr lang="en-US" sz="1300" dirty="0"/>
          </a:p>
          <a:p>
            <a:pPr indent="0" marL="0">
              <a:buNone/>
            </a:pPr>
            <a:r>
              <a:rPr lang="en-US" sz="1300" dirty="0">
                <a:solidFill>
                  <a:srgbClr val="F2F2F2"/>
                </a:solidFill>
                <a:latin typeface="Calibri" pitchFamily="34" charset="0"/>
                <a:ea typeface="Calibri" pitchFamily="34" charset="-122"/>
                <a:cs typeface="Calibri" pitchFamily="34" charset="-120"/>
              </a:rPr>
              <a:t>• Elides pointer arithmetic (tt.addptr)</a:t>
            </a:r>
            <a:endParaRPr lang="en-US" sz="1300" dirty="0"/>
          </a:p>
          <a:p>
            <a:pPr indent="0" marL="0">
              <a:buNone/>
            </a:pPr>
            <a:r>
              <a:rPr lang="en-US" sz="1300" dirty="0">
                <a:solidFill>
                  <a:srgbClr val="F2F2F2"/>
                </a:solidFill>
                <a:latin typeface="Calibri" pitchFamily="34" charset="0"/>
                <a:ea typeface="Calibri" pitchFamily="34" charset="-122"/>
                <a:cs typeface="Calibri" pitchFamily="34" charset="-120"/>
              </a:rPr>
              <a:t>• Elides broadcast splats (tt.splat)</a:t>
            </a:r>
            <a:endParaRPr lang="en-US" sz="1300" dirty="0"/>
          </a:p>
        </p:txBody>
      </p:sp>
      <p:sp>
        <p:nvSpPr>
          <p:cNvPr id="14" name="Shape 11"/>
          <p:cNvSpPr/>
          <p:nvPr/>
        </p:nvSpPr>
        <p:spPr>
          <a:xfrm>
            <a:off x="7909560" y="3749040"/>
            <a:ext cx="3840480" cy="2331720"/>
          </a:xfrm>
          <a:prstGeom prst="rect">
            <a:avLst/>
          </a:prstGeom>
          <a:solidFill>
            <a:srgbClr val="141417"/>
          </a:solidFill>
          <a:ln w="15875">
            <a:solidFill>
              <a:srgbClr val="8A754C"/>
            </a:solidFill>
            <a:prstDash val="solid"/>
          </a:ln>
        </p:spPr>
      </p:sp>
      <p:sp>
        <p:nvSpPr>
          <p:cNvPr id="15" name="Text 12"/>
          <p:cNvSpPr txBox="1"/>
          <p:nvPr/>
        </p:nvSpPr>
        <p:spPr>
          <a:xfrm>
            <a:off x="8046720" y="3611880"/>
            <a:ext cx="3566160" cy="274320"/>
          </a:xfrm>
          <a:prstGeom prst="rect">
            <a:avLst/>
          </a:prstGeom>
          <a:solidFill>
            <a:srgbClr val="0D0D0F"/>
          </a:solidFill>
          <a:ln/>
        </p:spPr>
        <p:txBody>
          <a:bodyPr wrap="square" lIns="0" tIns="0" rIns="0" bIns="0" rtlCol="0" anchor="ctr"/>
          <a:lstStyle/>
          <a:p>
            <a:pPr algn="l" indent="0" marL="0">
              <a:buNone/>
            </a:pPr>
            <a:r>
              <a:rPr lang="en-US" sz="1050" dirty="0">
                <a:solidFill>
                  <a:srgbClr val="8A754C"/>
                </a:solidFill>
                <a:latin typeface="Courier New" pitchFamily="34" charset="0"/>
                <a:ea typeface="Courier New" pitchFamily="34" charset="-122"/>
                <a:cs typeface="Courier New" pitchFamily="34" charset="-120"/>
              </a:rPr>
              <a:t>Descriptor Geometry</a:t>
            </a:r>
            <a:endParaRPr lang="en-US" sz="1050" dirty="0"/>
          </a:p>
        </p:txBody>
      </p:sp>
      <p:sp>
        <p:nvSpPr>
          <p:cNvPr id="16" name="Text 13"/>
          <p:cNvSpPr txBox="1"/>
          <p:nvPr/>
        </p:nvSpPr>
        <p:spPr>
          <a:xfrm>
            <a:off x="8092440" y="4069080"/>
            <a:ext cx="3474720" cy="1874520"/>
          </a:xfrm>
          <a:prstGeom prst="rect">
            <a:avLst/>
          </a:prstGeom>
          <a:noFill/>
          <a:ln/>
        </p:spPr>
        <p:txBody>
          <a:bodyPr wrap="square" lIns="0" tIns="0" rIns="0" bIns="0" rtlCol="0" anchor="ctr"/>
          <a:lstStyle/>
          <a:p>
            <a:pPr indent="0" marL="0">
              <a:buNone/>
            </a:pPr>
            <a:r>
              <a:rPr lang="en-US" sz="1100" dirty="0">
                <a:solidFill>
                  <a:srgbClr val="D9A94E"/>
                </a:solidFill>
                <a:latin typeface="Courier New" pitchFamily="34" charset="0"/>
                <a:ea typeface="Courier New" pitchFamily="34" charset="-122"/>
                <a:cs typeface="Courier New" pitchFamily="34" charset="-120"/>
              </a:rPr>
              <a:t>Affine Memory Descriptor:</a:t>
            </a:r>
            <a:endParaRPr lang="en-US" sz="1100" dirty="0"/>
          </a:p>
          <a:p>
            <a:pPr indent="0" marL="0">
              <a:buNone/>
            </a:pPr>
            <a:r>
              <a:rPr lang="en-US" sz="1100" dirty="0">
                <a:solidFill>
                  <a:srgbClr val="D9A94E"/>
                </a:solidFill>
                <a:latin typeface="Courier New" pitchFamily="34" charset="0"/>
                <a:ea typeface="Courier New" pitchFamily="34" charset="-122"/>
                <a:cs typeface="Courier New" pitchFamily="34" charset="-120"/>
              </a:rPr>
              <a:t>  Base: %a_ptrs_34</a:t>
            </a:r>
            <a:endParaRPr lang="en-US" sz="1100" dirty="0"/>
          </a:p>
          <a:p>
            <a:pPr indent="0" marL="0">
              <a:buNone/>
            </a:pPr>
            <a:r>
              <a:rPr lang="en-US" sz="1100" dirty="0">
                <a:solidFill>
                  <a:srgbClr val="D9A94E"/>
                </a:solidFill>
                <a:latin typeface="Courier New" pitchFamily="34" charset="0"/>
                <a:ea typeface="Courier New" pitchFamily="34" charset="-122"/>
                <a:cs typeface="Courier New" pitchFamily="34" charset="-120"/>
              </a:rPr>
              <a:t>  Shape: [64, 32]</a:t>
            </a:r>
            <a:endParaRPr lang="en-US" sz="1100" dirty="0"/>
          </a:p>
          <a:p>
            <a:pPr indent="0" marL="0">
              <a:buNone/>
            </a:pPr>
            <a:r>
              <a:rPr lang="en-US" sz="1100" dirty="0">
                <a:solidFill>
                  <a:srgbClr val="D9A94E"/>
                </a:solidFill>
                <a:latin typeface="Courier New" pitchFamily="34" charset="0"/>
                <a:ea typeface="Courier New" pitchFamily="34" charset="-122"/>
                <a:cs typeface="Courier New" pitchFamily="34" charset="-120"/>
              </a:rPr>
              <a:t>  Strides: [32, 1] (affine contiguous)</a:t>
            </a:r>
            <a:endParaRPr lang="en-US" sz="1100" dirty="0"/>
          </a:p>
          <a:p>
            <a:pPr indent="0" marL="0">
              <a:buNone/>
            </a:pPr>
            <a:endParaRPr lang="en-US" sz="1100" dirty="0"/>
          </a:p>
          <a:p>
            <a:pPr indent="0" marL="0">
              <a:buNone/>
            </a:pPr>
            <a:r>
              <a:rPr lang="en-US" sz="1100" dirty="0">
                <a:solidFill>
                  <a:srgbClr val="D9A94E"/>
                </a:solidFill>
                <a:latin typeface="Courier New" pitchFamily="34" charset="0"/>
                <a:ea typeface="Courier New" pitchFamily="34" charset="-122"/>
                <a:cs typeface="Courier New" pitchFamily="34" charset="-120"/>
              </a:rPr>
              <a:t>Target emits single hardware LDG / DMA instruction instead of an address calculation loop.</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F"/>
        </a:solidFill>
      </p:bgPr>
    </p:bg>
    <p:spTree>
      <p:nvGrpSpPr>
        <p:cNvPr id="1" name=""/>
        <p:cNvGrpSpPr/>
        <p:nvPr/>
      </p:nvGrpSpPr>
      <p:grpSpPr>
        <a:xfrm>
          <a:off x="0" y="0"/>
          <a:ext cx="0" cy="0"/>
          <a:chOff x="0" y="0"/>
          <a:chExt cx="0" cy="0"/>
        </a:xfrm>
      </p:grpSpPr>
      <p:sp>
        <p:nvSpPr>
          <p:cNvPr id="2" name="Shape 0"/>
          <p:cNvSpPr/>
          <p:nvPr/>
        </p:nvSpPr>
        <p:spPr>
          <a:xfrm>
            <a:off x="457200" y="256032"/>
            <a:ext cx="1508760" cy="402336"/>
          </a:xfrm>
          <a:prstGeom prst="roundRect">
            <a:avLst>
              <a:gd name="adj" fmla="val 18182"/>
            </a:avLst>
          </a:prstGeom>
          <a:solidFill>
            <a:srgbClr val="0D0D0F"/>
          </a:solidFill>
          <a:ln w="12700">
            <a:solidFill>
              <a:srgbClr val="8A754C"/>
            </a:solidFill>
            <a:prstDash val="solid"/>
          </a:ln>
        </p:spPr>
      </p:sp>
      <p:sp>
        <p:nvSpPr>
          <p:cNvPr id="3" name="Text 1"/>
          <p:cNvSpPr txBox="1"/>
          <p:nvPr/>
        </p:nvSpPr>
        <p:spPr>
          <a:xfrm>
            <a:off x="457200" y="256032"/>
            <a:ext cx="1508760" cy="402336"/>
          </a:xfrm>
          <a:prstGeom prst="rect">
            <a:avLst/>
          </a:prstGeom>
          <a:noFill/>
          <a:ln/>
        </p:spPr>
        <p:txBody>
          <a:bodyPr wrap="square" lIns="0" tIns="0" rIns="0" bIns="0" rtlCol="0" anchor="ctr"/>
          <a:lstStyle/>
          <a:p>
            <a:pPr algn="ctr" indent="0" marL="0">
              <a:buNone/>
            </a:pPr>
            <a:r>
              <a:rPr lang="en-US" sz="1150" b="1" dirty="0">
                <a:solidFill>
                  <a:srgbClr val="D9A94E"/>
                </a:solidFill>
                <a:latin typeface="Courier New" pitchFamily="34" charset="0"/>
                <a:ea typeface="Courier New" pitchFamily="34" charset="-122"/>
                <a:cs typeface="Courier New" pitchFamily="34" charset="-120"/>
              </a:rPr>
              <a:t>ValiumX</a:t>
            </a:r>
            <a:endParaRPr lang="en-US" sz="1150" dirty="0"/>
          </a:p>
        </p:txBody>
      </p:sp>
      <p:sp>
        <p:nvSpPr>
          <p:cNvPr id="4" name="Text 2"/>
          <p:cNvSpPr txBox="1"/>
          <p:nvPr/>
        </p:nvSpPr>
        <p:spPr>
          <a:xfrm>
            <a:off x="2148840" y="201168"/>
            <a:ext cx="9418320" cy="502920"/>
          </a:xfrm>
          <a:prstGeom prst="rect">
            <a:avLst/>
          </a:prstGeom>
          <a:noFill/>
          <a:ln/>
        </p:spPr>
        <p:txBody>
          <a:bodyPr wrap="square" lIns="0" tIns="0" rIns="0" bIns="0" rtlCol="0" anchor="ctr"/>
          <a:lstStyle/>
          <a:p>
            <a:pPr algn="l" indent="0" marL="0">
              <a:buNone/>
            </a:pPr>
            <a:r>
              <a:rPr lang="en-US" sz="2300" b="1" dirty="0">
                <a:solidFill>
                  <a:srgbClr val="F2F2F2"/>
                </a:solidFill>
                <a:latin typeface="Calibri" pitchFamily="34" charset="0"/>
                <a:ea typeface="Calibri" pitchFamily="34" charset="-122"/>
                <a:cs typeface="Calibri" pitchFamily="34" charset="-120"/>
              </a:rPr>
              <a:t>One TTIR, three instruction sets, zero compiler changes</a:t>
            </a:r>
            <a:endParaRPr lang="en-US" sz="2300" dirty="0"/>
          </a:p>
        </p:txBody>
      </p:sp>
      <p:sp>
        <p:nvSpPr>
          <p:cNvPr id="5" name="Text 3"/>
          <p:cNvSpPr txBox="1"/>
          <p:nvPr/>
        </p:nvSpPr>
        <p:spPr>
          <a:xfrm>
            <a:off x="11338560" y="6473952"/>
            <a:ext cx="548640"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6</a:t>
            </a:r>
            <a:endParaRPr lang="en-US" sz="1100" dirty="0"/>
          </a:p>
        </p:txBody>
      </p:sp>
      <p:sp>
        <p:nvSpPr>
          <p:cNvPr id="6" name="Text 4"/>
          <p:cNvSpPr txBox="1"/>
          <p:nvPr/>
        </p:nvSpPr>
        <p:spPr>
          <a:xfrm>
            <a:off x="548640" y="868680"/>
            <a:ext cx="11064240" cy="45720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Same pre-ISA operations, lowered three different ways, one per chip.yaml. No branch in the compiler knows which chip it is targeting.</a:t>
            </a:r>
            <a:endParaRPr lang="en-US" sz="1400" dirty="0"/>
          </a:p>
        </p:txBody>
      </p:sp>
      <p:sp>
        <p:nvSpPr>
          <p:cNvPr id="7" name="Shape 5"/>
          <p:cNvSpPr/>
          <p:nvPr/>
        </p:nvSpPr>
        <p:spPr>
          <a:xfrm>
            <a:off x="502920" y="1463040"/>
            <a:ext cx="11173968" cy="4274521"/>
          </a:xfrm>
          <a:prstGeom prst="rect">
            <a:avLst/>
          </a:prstGeom>
          <a:solidFill>
            <a:srgbClr val="141417"/>
          </a:solidFill>
          <a:ln w="15875">
            <a:solidFill>
              <a:srgbClr val="8A754C"/>
            </a:solidFill>
            <a:prstDash val="solid"/>
          </a:ln>
        </p:spPr>
      </p:sp>
      <p:sp>
        <p:nvSpPr>
          <p:cNvPr id="8" name="Text 6"/>
          <p:cNvSpPr txBox="1"/>
          <p:nvPr/>
        </p:nvSpPr>
        <p:spPr>
          <a:xfrm>
            <a:off x="640080" y="1325880"/>
            <a:ext cx="10899648" cy="274320"/>
          </a:xfrm>
          <a:prstGeom prst="rect">
            <a:avLst/>
          </a:prstGeom>
          <a:solidFill>
            <a:srgbClr val="0D0D0F"/>
          </a:solidFill>
          <a:ln/>
        </p:spPr>
        <p:txBody>
          <a:bodyPr wrap="square" lIns="0" tIns="0" rIns="0" bIns="0" rtlCol="0" anchor="ctr"/>
          <a:lstStyle/>
          <a:p>
            <a:pPr algn="l" indent="0" marL="0">
              <a:buNone/>
            </a:pPr>
            <a:r>
              <a:rPr lang="en-US" sz="1050" dirty="0">
                <a:solidFill>
                  <a:srgbClr val="8A754C"/>
                </a:solidFill>
                <a:latin typeface="Courier New" pitchFamily="34" charset="0"/>
                <a:ea typeface="Courier New" pitchFamily="34" charset="-122"/>
                <a:cs typeface="Courier New" pitchFamily="34" charset="-120"/>
              </a:rPr>
              <a:t>Parallel 3-Way ISA Lowering from Shared TTIR</a:t>
            </a:r>
            <a:endParaRPr lang="en-US" sz="1050" dirty="0"/>
          </a:p>
        </p:txBody>
      </p:sp>
      <p:pic>
        <p:nvPicPr>
          <p:cNvPr id="9" name="Image 0" descr="/home/bb/Downloads/26334ab4-f1ef-44b0-bfaf-e337e178ebff.png">    </p:cNvPr>
          <p:cNvPicPr>
            <a:picLocks noChangeAspect="1"/>
          </p:cNvPicPr>
          <p:nvPr/>
        </p:nvPicPr>
        <p:blipFill>
          <a:blip r:embed="rId1"/>
          <a:stretch>
            <a:fillRect/>
          </a:stretch>
        </p:blipFill>
        <p:spPr>
          <a:xfrm>
            <a:off x="557784" y="1517904"/>
            <a:ext cx="11064240" cy="4164793"/>
          </a:xfrm>
          <a:prstGeom prst="rect">
            <a:avLst/>
          </a:prstGeom>
        </p:spPr>
      </p:pic>
      <p:sp>
        <p:nvSpPr>
          <p:cNvPr id="10" name="Text 7"/>
          <p:cNvSpPr txBox="1"/>
          <p:nvPr/>
        </p:nvSpPr>
        <p:spPr>
          <a:xfrm>
            <a:off x="502920" y="5792425"/>
            <a:ext cx="10972800" cy="320040"/>
          </a:xfrm>
          <a:prstGeom prst="rect">
            <a:avLst/>
          </a:prstGeom>
          <a:noFill/>
          <a:ln/>
        </p:spPr>
        <p:txBody>
          <a:bodyPr wrap="square" lIns="0" tIns="0" rIns="0" bIns="0" rtlCol="0" anchor="ctr"/>
          <a:lstStyle/>
          <a:p>
            <a:pPr algn="l" indent="0" marL="0">
              <a:buNone/>
            </a:pPr>
            <a:r>
              <a:rPr lang="en-US" sz="1100" i="1" dirty="0">
                <a:solidFill>
                  <a:srgbClr val="9A9A9A"/>
                </a:solidFill>
                <a:latin typeface="Calibri" pitchFamily="34" charset="0"/>
                <a:ea typeface="Calibri" pitchFamily="34" charset="-122"/>
                <a:cs typeface="Calibri" pitchFamily="34" charset="-120"/>
              </a:rPr>
              <a:t>TritonFlow1 (systolic array), TritonFlow2 (banked), and Vortex_RVGPU (SIMT) generated from separate YAML schemas</a:t>
            </a:r>
            <a:endParaRPr lang="en-US" sz="1100" dirty="0"/>
          </a:p>
        </p:txBody>
      </p:sp>
      <p:sp>
        <p:nvSpPr>
          <p:cNvPr id="11" name="Text 8"/>
          <p:cNvSpPr txBox="1"/>
          <p:nvPr/>
        </p:nvSpPr>
        <p:spPr>
          <a:xfrm>
            <a:off x="502920" y="6263640"/>
            <a:ext cx="10972800" cy="320040"/>
          </a:xfrm>
          <a:prstGeom prst="rect">
            <a:avLst/>
          </a:prstGeom>
          <a:noFill/>
          <a:ln/>
        </p:spPr>
        <p:txBody>
          <a:bodyPr wrap="square" lIns="0" tIns="0" rIns="0" bIns="0" rtlCol="0" anchor="ctr"/>
          <a:lstStyle/>
          <a:p>
            <a:pPr algn="l" indent="0" marL="0">
              <a:buNone/>
            </a:pPr>
            <a:r>
              <a:rPr lang="en-US" sz="1150" i="1" dirty="0">
                <a:solidFill>
                  <a:srgbClr val="9A9A9A"/>
                </a:solidFill>
                <a:latin typeface="Calibri" pitchFamily="34" charset="0"/>
                <a:ea typeface="Calibri" pitchFamily="34" charset="-122"/>
                <a:cs typeface="Calibri" pitchFamily="34" charset="-120"/>
              </a:rPr>
              <a:t>cycle counts above are cost-model estimates, not measurements on physical silicon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F"/>
        </a:solidFill>
      </p:bgPr>
    </p:bg>
    <p:spTree>
      <p:nvGrpSpPr>
        <p:cNvPr id="1" name=""/>
        <p:cNvGrpSpPr/>
        <p:nvPr/>
      </p:nvGrpSpPr>
      <p:grpSpPr>
        <a:xfrm>
          <a:off x="0" y="0"/>
          <a:ext cx="0" cy="0"/>
          <a:chOff x="0" y="0"/>
          <a:chExt cx="0" cy="0"/>
        </a:xfrm>
      </p:grpSpPr>
      <p:sp>
        <p:nvSpPr>
          <p:cNvPr id="2" name="Shape 0"/>
          <p:cNvSpPr/>
          <p:nvPr/>
        </p:nvSpPr>
        <p:spPr>
          <a:xfrm>
            <a:off x="457200" y="256032"/>
            <a:ext cx="1508760" cy="402336"/>
          </a:xfrm>
          <a:prstGeom prst="roundRect">
            <a:avLst>
              <a:gd name="adj" fmla="val 18182"/>
            </a:avLst>
          </a:prstGeom>
          <a:solidFill>
            <a:srgbClr val="0D0D0F"/>
          </a:solidFill>
          <a:ln w="12700">
            <a:solidFill>
              <a:srgbClr val="8A754C"/>
            </a:solidFill>
            <a:prstDash val="solid"/>
          </a:ln>
        </p:spPr>
      </p:sp>
      <p:sp>
        <p:nvSpPr>
          <p:cNvPr id="3" name="Text 1"/>
          <p:cNvSpPr txBox="1"/>
          <p:nvPr/>
        </p:nvSpPr>
        <p:spPr>
          <a:xfrm>
            <a:off x="457200" y="256032"/>
            <a:ext cx="1508760" cy="402336"/>
          </a:xfrm>
          <a:prstGeom prst="rect">
            <a:avLst/>
          </a:prstGeom>
          <a:noFill/>
          <a:ln/>
        </p:spPr>
        <p:txBody>
          <a:bodyPr wrap="square" lIns="0" tIns="0" rIns="0" bIns="0" rtlCol="0" anchor="ctr"/>
          <a:lstStyle/>
          <a:p>
            <a:pPr algn="ctr" indent="0" marL="0">
              <a:buNone/>
            </a:pPr>
            <a:r>
              <a:rPr lang="en-US" sz="1150" b="1" dirty="0">
                <a:solidFill>
                  <a:srgbClr val="D9A94E"/>
                </a:solidFill>
                <a:latin typeface="Courier New" pitchFamily="34" charset="0"/>
                <a:ea typeface="Courier New" pitchFamily="34" charset="-122"/>
                <a:cs typeface="Courier New" pitchFamily="34" charset="-120"/>
              </a:rPr>
              <a:t>ValiumX</a:t>
            </a:r>
            <a:endParaRPr lang="en-US" sz="1150" dirty="0"/>
          </a:p>
        </p:txBody>
      </p:sp>
      <p:sp>
        <p:nvSpPr>
          <p:cNvPr id="4" name="Text 2"/>
          <p:cNvSpPr txBox="1"/>
          <p:nvPr/>
        </p:nvSpPr>
        <p:spPr>
          <a:xfrm>
            <a:off x="2148840" y="201168"/>
            <a:ext cx="9418320" cy="502920"/>
          </a:xfrm>
          <a:prstGeom prst="rect">
            <a:avLst/>
          </a:prstGeom>
          <a:noFill/>
          <a:ln/>
        </p:spPr>
        <p:txBody>
          <a:bodyPr wrap="square" lIns="0" tIns="0" rIns="0" bIns="0" rtlCol="0" anchor="ctr"/>
          <a:lstStyle/>
          <a:p>
            <a:pPr algn="l" indent="0" marL="0">
              <a:buNone/>
            </a:pPr>
            <a:r>
              <a:rPr lang="en-US" sz="2300" b="1" dirty="0">
                <a:solidFill>
                  <a:srgbClr val="F2F2F2"/>
                </a:solidFill>
                <a:latin typeface="Calibri" pitchFamily="34" charset="0"/>
                <a:ea typeface="Calibri" pitchFamily="34" charset="-122"/>
                <a:cs typeface="Calibri" pitchFamily="34" charset="-120"/>
              </a:rPr>
              <a:t>Architecture comparison and inter-ISA diff</a:t>
            </a:r>
            <a:endParaRPr lang="en-US" sz="2300" dirty="0"/>
          </a:p>
        </p:txBody>
      </p:sp>
      <p:sp>
        <p:nvSpPr>
          <p:cNvPr id="5" name="Text 3"/>
          <p:cNvSpPr txBox="1"/>
          <p:nvPr/>
        </p:nvSpPr>
        <p:spPr>
          <a:xfrm>
            <a:off x="11338560" y="6473952"/>
            <a:ext cx="548640"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7</a:t>
            </a:r>
            <a:endParaRPr lang="en-US" sz="1100" dirty="0"/>
          </a:p>
        </p:txBody>
      </p:sp>
      <p:sp>
        <p:nvSpPr>
          <p:cNvPr id="6" name="Text 4"/>
          <p:cNvSpPr txBox="1"/>
          <p:nvPr/>
        </p:nvSpPr>
        <p:spPr>
          <a:xfrm>
            <a:off x="548640" y="868680"/>
            <a:ext cx="11064240" cy="45720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Different microarchitectures yield vastly different execution profiles from the same kernel. Cost models reflect hardware memory banking and tensor unit topology.</a:t>
            </a:r>
            <a:endParaRPr lang="en-US" sz="1400" dirty="0"/>
          </a:p>
        </p:txBody>
      </p:sp>
      <p:sp>
        <p:nvSpPr>
          <p:cNvPr id="7" name="Shape 5"/>
          <p:cNvSpPr/>
          <p:nvPr/>
        </p:nvSpPr>
        <p:spPr>
          <a:xfrm>
            <a:off x="502920" y="1417320"/>
            <a:ext cx="6210779" cy="4544568"/>
          </a:xfrm>
          <a:prstGeom prst="rect">
            <a:avLst/>
          </a:prstGeom>
          <a:solidFill>
            <a:srgbClr val="141417"/>
          </a:solidFill>
          <a:ln w="15875">
            <a:solidFill>
              <a:srgbClr val="8A754C"/>
            </a:solidFill>
            <a:prstDash val="solid"/>
          </a:ln>
        </p:spPr>
      </p:sp>
      <p:sp>
        <p:nvSpPr>
          <p:cNvPr id="8" name="Text 6"/>
          <p:cNvSpPr txBox="1"/>
          <p:nvPr/>
        </p:nvSpPr>
        <p:spPr>
          <a:xfrm>
            <a:off x="640080" y="1280160"/>
            <a:ext cx="5936459" cy="274320"/>
          </a:xfrm>
          <a:prstGeom prst="rect">
            <a:avLst/>
          </a:prstGeom>
          <a:solidFill>
            <a:srgbClr val="0D0D0F"/>
          </a:solidFill>
          <a:ln/>
        </p:spPr>
        <p:txBody>
          <a:bodyPr wrap="square" lIns="0" tIns="0" rIns="0" bIns="0" rtlCol="0" anchor="ctr"/>
          <a:lstStyle/>
          <a:p>
            <a:pPr algn="l" indent="0" marL="0">
              <a:buNone/>
            </a:pPr>
            <a:r>
              <a:rPr lang="en-US" sz="1050" dirty="0">
                <a:solidFill>
                  <a:srgbClr val="8A754C"/>
                </a:solidFill>
                <a:latin typeface="Courier New" pitchFamily="34" charset="0"/>
                <a:ea typeface="Courier New" pitchFamily="34" charset="-122"/>
                <a:cs typeface="Courier New" pitchFamily="34" charset="-120"/>
              </a:rPr>
              <a:t>Accelerator Speed Race &amp; Microarchitecture Diff</a:t>
            </a:r>
            <a:endParaRPr lang="en-US" sz="1050" dirty="0"/>
          </a:p>
        </p:txBody>
      </p:sp>
      <p:pic>
        <p:nvPicPr>
          <p:cNvPr id="9" name="Image 0" descr="/home/bb/Downloads/5aa312df-1962-4000-a3ef-16282ae5035b.png">    </p:cNvPr>
          <p:cNvPicPr>
            <a:picLocks noChangeAspect="1"/>
          </p:cNvPicPr>
          <p:nvPr/>
        </p:nvPicPr>
        <p:blipFill>
          <a:blip r:embed="rId1"/>
          <a:stretch>
            <a:fillRect/>
          </a:stretch>
        </p:blipFill>
        <p:spPr>
          <a:xfrm>
            <a:off x="557784" y="1472184"/>
            <a:ext cx="6101051" cy="4434840"/>
          </a:xfrm>
          <a:prstGeom prst="rect">
            <a:avLst/>
          </a:prstGeom>
        </p:spPr>
      </p:pic>
      <p:sp>
        <p:nvSpPr>
          <p:cNvPr id="10" name="Text 7"/>
          <p:cNvSpPr txBox="1"/>
          <p:nvPr/>
        </p:nvSpPr>
        <p:spPr>
          <a:xfrm>
            <a:off x="502920" y="6016752"/>
            <a:ext cx="6101051" cy="320040"/>
          </a:xfrm>
          <a:prstGeom prst="rect">
            <a:avLst/>
          </a:prstGeom>
          <a:noFill/>
          <a:ln/>
        </p:spPr>
        <p:txBody>
          <a:bodyPr wrap="square" lIns="0" tIns="0" rIns="0" bIns="0" rtlCol="0" anchor="ctr"/>
          <a:lstStyle/>
          <a:p>
            <a:pPr algn="l" indent="0" marL="0">
              <a:buNone/>
            </a:pPr>
            <a:r>
              <a:rPr lang="en-US" sz="1100" i="1" dirty="0">
                <a:solidFill>
                  <a:srgbClr val="9A9A9A"/>
                </a:solidFill>
                <a:latin typeface="Calibri" pitchFamily="34" charset="0"/>
                <a:ea typeface="Calibri" pitchFamily="34" charset="-122"/>
                <a:cs typeface="Calibri" pitchFamily="34" charset="-120"/>
              </a:rPr>
              <a:t>direct inter-ISA architectural diff showing flat DMA vs coalesced cache line access</a:t>
            </a:r>
            <a:endParaRPr lang="en-US" sz="1100" dirty="0"/>
          </a:p>
        </p:txBody>
      </p:sp>
      <p:sp>
        <p:nvSpPr>
          <p:cNvPr id="11" name="Shape 8"/>
          <p:cNvSpPr/>
          <p:nvPr/>
        </p:nvSpPr>
        <p:spPr>
          <a:xfrm>
            <a:off x="6903720" y="1417320"/>
            <a:ext cx="4754880" cy="2011680"/>
          </a:xfrm>
          <a:prstGeom prst="rect">
            <a:avLst/>
          </a:prstGeom>
          <a:solidFill>
            <a:srgbClr val="141417"/>
          </a:solidFill>
          <a:ln w="15875">
            <a:solidFill>
              <a:srgbClr val="8A754C"/>
            </a:solidFill>
            <a:prstDash val="solid"/>
          </a:ln>
        </p:spPr>
      </p:sp>
      <p:sp>
        <p:nvSpPr>
          <p:cNvPr id="12" name="Text 9"/>
          <p:cNvSpPr txBox="1"/>
          <p:nvPr/>
        </p:nvSpPr>
        <p:spPr>
          <a:xfrm>
            <a:off x="7040880" y="1280160"/>
            <a:ext cx="4480560" cy="274320"/>
          </a:xfrm>
          <a:prstGeom prst="rect">
            <a:avLst/>
          </a:prstGeom>
          <a:solidFill>
            <a:srgbClr val="0D0D0F"/>
          </a:solidFill>
          <a:ln/>
        </p:spPr>
        <p:txBody>
          <a:bodyPr wrap="square" lIns="0" tIns="0" rIns="0" bIns="0" rtlCol="0" anchor="ctr"/>
          <a:lstStyle/>
          <a:p>
            <a:pPr algn="l" indent="0" marL="0">
              <a:buNone/>
            </a:pPr>
            <a:r>
              <a:rPr lang="en-US" sz="1050" dirty="0">
                <a:solidFill>
                  <a:srgbClr val="8A754C"/>
                </a:solidFill>
                <a:latin typeface="Courier New" pitchFamily="34" charset="0"/>
                <a:ea typeface="Courier New" pitchFamily="34" charset="-122"/>
                <a:cs typeface="Courier New" pitchFamily="34" charset="-120"/>
              </a:rPr>
              <a:t>Target Microarchitectures</a:t>
            </a:r>
            <a:endParaRPr lang="en-US" sz="1050" dirty="0"/>
          </a:p>
        </p:txBody>
      </p:sp>
      <p:sp>
        <p:nvSpPr>
          <p:cNvPr id="13" name="Text 10"/>
          <p:cNvSpPr txBox="1"/>
          <p:nvPr/>
        </p:nvSpPr>
        <p:spPr>
          <a:xfrm>
            <a:off x="7086600" y="1737360"/>
            <a:ext cx="4389120" cy="1600200"/>
          </a:xfrm>
          <a:prstGeom prst="rect">
            <a:avLst/>
          </a:prstGeom>
          <a:noFill/>
          <a:ln/>
        </p:spPr>
        <p:txBody>
          <a:bodyPr wrap="square" lIns="0" tIns="0" rIns="0" bIns="0" rtlCol="0" anchor="ctr"/>
          <a:lstStyle/>
          <a:p>
            <a:pPr indent="0" marL="0">
              <a:buNone/>
            </a:pPr>
            <a:r>
              <a:rPr lang="en-US" sz="1250" dirty="0">
                <a:solidFill>
                  <a:srgbClr val="F2F2F2"/>
                </a:solidFill>
                <a:latin typeface="Calibri" pitchFamily="34" charset="0"/>
                <a:ea typeface="Calibri" pitchFamily="34" charset="-122"/>
                <a:cs typeface="Calibri" pitchFamily="34" charset="-120"/>
              </a:rPr>
              <a:t>• TOYISA1 (Systolic Array): 35,772.9 cycles (Baseline)</a:t>
            </a:r>
            <a:endParaRPr lang="en-US" sz="1250" dirty="0"/>
          </a:p>
          <a:p>
            <a:pPr indent="0" marL="0">
              <a:buNone/>
            </a:pPr>
            <a:r>
              <a:rPr lang="en-US" sz="1250" dirty="0">
                <a:solidFill>
                  <a:srgbClr val="F2F2F2"/>
                </a:solidFill>
                <a:latin typeface="Calibri" pitchFamily="34" charset="0"/>
                <a:ea typeface="Calibri" pitchFamily="34" charset="-122"/>
                <a:cs typeface="Calibri" pitchFamily="34" charset="-120"/>
              </a:rPr>
              <a:t>  Uses flat DMA1D transfers and MAC16 systolic units</a:t>
            </a:r>
            <a:endParaRPr lang="en-US" sz="1250" dirty="0"/>
          </a:p>
          <a:p>
            <a:pPr indent="0" marL="0">
              <a:buNone/>
            </a:pPr>
            <a:r>
              <a:rPr lang="en-US" sz="1250" dirty="0">
                <a:solidFill>
                  <a:srgbClr val="F2F2F2"/>
                </a:solidFill>
                <a:latin typeface="Calibri" pitchFamily="34" charset="0"/>
                <a:ea typeface="Calibri" pitchFamily="34" charset="-122"/>
                <a:cs typeface="Calibri" pitchFamily="34" charset="-120"/>
              </a:rPr>
              <a:t>• TOYISA2 (Banked ASIC): 28,402.0 cycles (1.26x faster)</a:t>
            </a:r>
            <a:endParaRPr lang="en-US" sz="1250" dirty="0"/>
          </a:p>
          <a:p>
            <a:pPr indent="0" marL="0">
              <a:buNone/>
            </a:pPr>
            <a:r>
              <a:rPr lang="en-US" sz="1250" dirty="0">
                <a:solidFill>
                  <a:srgbClr val="F2F2F2"/>
                </a:solidFill>
                <a:latin typeface="Calibri" pitchFamily="34" charset="0"/>
                <a:ea typeface="Calibri" pitchFamily="34" charset="-122"/>
                <a:cs typeface="Calibri" pitchFamily="34" charset="-120"/>
              </a:rPr>
              <a:t>  Uses banked memory loads and OPU32 units</a:t>
            </a:r>
            <a:endParaRPr lang="en-US" sz="1250" dirty="0"/>
          </a:p>
          <a:p>
            <a:pPr indent="0" marL="0">
              <a:buNone/>
            </a:pPr>
            <a:r>
              <a:rPr lang="en-US" sz="1250" dirty="0">
                <a:solidFill>
                  <a:srgbClr val="F2F2F2"/>
                </a:solidFill>
                <a:latin typeface="Calibri" pitchFamily="34" charset="0"/>
                <a:ea typeface="Calibri" pitchFamily="34" charset="-122"/>
                <a:cs typeface="Calibri" pitchFamily="34" charset="-120"/>
              </a:rPr>
              <a:t>• VORTEX_RVGPU (RISC-V SIMT): 6,837.5 cycles (5.2x faster)</a:t>
            </a:r>
            <a:endParaRPr lang="en-US" sz="1250" dirty="0"/>
          </a:p>
          <a:p>
            <a:pPr indent="0" marL="0">
              <a:buNone/>
            </a:pPr>
            <a:r>
              <a:rPr lang="en-US" sz="1250" dirty="0">
                <a:solidFill>
                  <a:srgbClr val="F2F2F2"/>
                </a:solidFill>
                <a:latin typeface="Calibri" pitchFamily="34" charset="0"/>
                <a:ea typeface="Calibri" pitchFamily="34" charset="-122"/>
                <a:cs typeface="Calibri" pitchFamily="34" charset="-120"/>
              </a:rPr>
              <a:t>  Leverages coalesced cache lines and Tensor Core units</a:t>
            </a:r>
            <a:endParaRPr lang="en-US" sz="1250" dirty="0"/>
          </a:p>
        </p:txBody>
      </p:sp>
      <p:sp>
        <p:nvSpPr>
          <p:cNvPr id="14" name="Shape 11"/>
          <p:cNvSpPr/>
          <p:nvPr/>
        </p:nvSpPr>
        <p:spPr>
          <a:xfrm>
            <a:off x="6903720" y="3657600"/>
            <a:ext cx="4754880" cy="2194560"/>
          </a:xfrm>
          <a:prstGeom prst="rect">
            <a:avLst/>
          </a:prstGeom>
          <a:solidFill>
            <a:srgbClr val="141417"/>
          </a:solidFill>
          <a:ln w="15875">
            <a:solidFill>
              <a:srgbClr val="E2574C"/>
            </a:solidFill>
            <a:prstDash val="solid"/>
          </a:ln>
        </p:spPr>
      </p:sp>
      <p:sp>
        <p:nvSpPr>
          <p:cNvPr id="15" name="Text 12"/>
          <p:cNvSpPr txBox="1"/>
          <p:nvPr/>
        </p:nvSpPr>
        <p:spPr>
          <a:xfrm>
            <a:off x="7040880" y="3520440"/>
            <a:ext cx="4480560" cy="274320"/>
          </a:xfrm>
          <a:prstGeom prst="rect">
            <a:avLst/>
          </a:prstGeom>
          <a:solidFill>
            <a:srgbClr val="0D0D0F"/>
          </a:solidFill>
          <a:ln/>
        </p:spPr>
        <p:txBody>
          <a:bodyPr wrap="square" lIns="0" tIns="0" rIns="0" bIns="0" rtlCol="0" anchor="ctr"/>
          <a:lstStyle/>
          <a:p>
            <a:pPr algn="l" indent="0" marL="0">
              <a:buNone/>
            </a:pPr>
            <a:r>
              <a:rPr lang="en-US" sz="1050" dirty="0">
                <a:solidFill>
                  <a:srgbClr val="E2574C"/>
                </a:solidFill>
                <a:latin typeface="Courier New" pitchFamily="34" charset="0"/>
                <a:ea typeface="Courier New" pitchFamily="34" charset="-122"/>
                <a:cs typeface="Courier New" pitchFamily="34" charset="-120"/>
              </a:rPr>
              <a:t>Evaluation Transparency</a:t>
            </a:r>
            <a:endParaRPr lang="en-US" sz="1050" dirty="0"/>
          </a:p>
        </p:txBody>
      </p:sp>
      <p:sp>
        <p:nvSpPr>
          <p:cNvPr id="16" name="Text 13"/>
          <p:cNvSpPr txBox="1"/>
          <p:nvPr/>
        </p:nvSpPr>
        <p:spPr>
          <a:xfrm>
            <a:off x="7086600" y="3977640"/>
            <a:ext cx="4389120" cy="1737360"/>
          </a:xfrm>
          <a:prstGeom prst="rect">
            <a:avLst/>
          </a:prstGeom>
          <a:noFill/>
          <a:ln/>
        </p:spPr>
        <p:txBody>
          <a:bodyPr wrap="square" lIns="0" tIns="0" rIns="0" bIns="0" rtlCol="0" anchor="ctr"/>
          <a:lstStyle/>
          <a:p>
            <a:pPr indent="0" marL="0">
              <a:buNone/>
            </a:pPr>
            <a:r>
              <a:rPr lang="en-US" sz="1200" dirty="0">
                <a:solidFill>
                  <a:srgbClr val="9A9A9A"/>
                </a:solidFill>
                <a:latin typeface="Calibri" pitchFamily="34" charset="0"/>
                <a:ea typeface="Calibri" pitchFamily="34" charset="-122"/>
                <a:cs typeface="Calibri" pitchFamily="34" charset="-120"/>
              </a:rPr>
              <a:t>IMPORTANT EVALUATION NOTE:</a:t>
            </a:r>
            <a:endParaRPr lang="en-US" sz="1200" dirty="0"/>
          </a:p>
          <a:p>
            <a:pPr indent="0" marL="0">
              <a:buNone/>
            </a:pPr>
            <a:r>
              <a:rPr lang="en-US" sz="1200" dirty="0">
                <a:solidFill>
                  <a:srgbClr val="9A9A9A"/>
                </a:solidFill>
                <a:latin typeface="Calibri" pitchFamily="34" charset="0"/>
                <a:ea typeface="Calibri" pitchFamily="34" charset="-122"/>
                <a:cs typeface="Calibri" pitchFamily="34" charset="-120"/>
              </a:rPr>
              <a:t>Cycle counts and speedup factors shown here are derived from declarative YAML cost models, not physical silicon measurements.</a:t>
            </a:r>
            <a:endParaRPr lang="en-US" sz="1200" dirty="0"/>
          </a:p>
          <a:p>
            <a:pPr indent="0" marL="0">
              <a:buNone/>
            </a:pPr>
            <a:endParaRPr lang="en-US" sz="1200" dirty="0"/>
          </a:p>
          <a:p>
            <a:pPr indent="0" marL="0">
              <a:buNone/>
            </a:pPr>
            <a:r>
              <a:rPr lang="en-US" sz="1200" dirty="0">
                <a:solidFill>
                  <a:srgbClr val="9A9A9A"/>
                </a:solidFill>
                <a:latin typeface="Calibri" pitchFamily="34" charset="0"/>
                <a:ea typeface="Calibri" pitchFamily="34" charset="-122"/>
                <a:cs typeface="Calibri" pitchFamily="34" charset="-120"/>
              </a:rPr>
              <a:t>Demonstrates how hardware teams can rapidly model architectural trade-offs before tape-out.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0F"/>
        </a:solidFill>
      </p:bgPr>
    </p:bg>
    <p:spTree>
      <p:nvGrpSpPr>
        <p:cNvPr id="1" name=""/>
        <p:cNvGrpSpPr/>
        <p:nvPr/>
      </p:nvGrpSpPr>
      <p:grpSpPr>
        <a:xfrm>
          <a:off x="0" y="0"/>
          <a:ext cx="0" cy="0"/>
          <a:chOff x="0" y="0"/>
          <a:chExt cx="0" cy="0"/>
        </a:xfrm>
      </p:grpSpPr>
      <p:sp>
        <p:nvSpPr>
          <p:cNvPr id="2" name="Shape 0"/>
          <p:cNvSpPr/>
          <p:nvPr/>
        </p:nvSpPr>
        <p:spPr>
          <a:xfrm>
            <a:off x="457200" y="256032"/>
            <a:ext cx="1508760" cy="402336"/>
          </a:xfrm>
          <a:prstGeom prst="roundRect">
            <a:avLst>
              <a:gd name="adj" fmla="val 18182"/>
            </a:avLst>
          </a:prstGeom>
          <a:solidFill>
            <a:srgbClr val="0D0D0F"/>
          </a:solidFill>
          <a:ln w="12700">
            <a:solidFill>
              <a:srgbClr val="8A754C"/>
            </a:solidFill>
            <a:prstDash val="solid"/>
          </a:ln>
        </p:spPr>
      </p:sp>
      <p:sp>
        <p:nvSpPr>
          <p:cNvPr id="3" name="Text 1"/>
          <p:cNvSpPr txBox="1"/>
          <p:nvPr/>
        </p:nvSpPr>
        <p:spPr>
          <a:xfrm>
            <a:off x="457200" y="256032"/>
            <a:ext cx="1508760" cy="402336"/>
          </a:xfrm>
          <a:prstGeom prst="rect">
            <a:avLst/>
          </a:prstGeom>
          <a:noFill/>
          <a:ln/>
        </p:spPr>
        <p:txBody>
          <a:bodyPr wrap="square" lIns="0" tIns="0" rIns="0" bIns="0" rtlCol="0" anchor="ctr"/>
          <a:lstStyle/>
          <a:p>
            <a:pPr algn="ctr" indent="0" marL="0">
              <a:buNone/>
            </a:pPr>
            <a:r>
              <a:rPr lang="en-US" sz="1150" b="1" dirty="0">
                <a:solidFill>
                  <a:srgbClr val="D9A94E"/>
                </a:solidFill>
                <a:latin typeface="Courier New" pitchFamily="34" charset="0"/>
                <a:ea typeface="Courier New" pitchFamily="34" charset="-122"/>
                <a:cs typeface="Courier New" pitchFamily="34" charset="-120"/>
              </a:rPr>
              <a:t>ValiumX</a:t>
            </a:r>
            <a:endParaRPr lang="en-US" sz="1150" dirty="0"/>
          </a:p>
        </p:txBody>
      </p:sp>
      <p:sp>
        <p:nvSpPr>
          <p:cNvPr id="4" name="Text 2"/>
          <p:cNvSpPr txBox="1"/>
          <p:nvPr/>
        </p:nvSpPr>
        <p:spPr>
          <a:xfrm>
            <a:off x="2148840" y="201168"/>
            <a:ext cx="9418320" cy="502920"/>
          </a:xfrm>
          <a:prstGeom prst="rect">
            <a:avLst/>
          </a:prstGeom>
          <a:noFill/>
          <a:ln/>
        </p:spPr>
        <p:txBody>
          <a:bodyPr wrap="square" lIns="0" tIns="0" rIns="0" bIns="0" rtlCol="0" anchor="ctr"/>
          <a:lstStyle/>
          <a:p>
            <a:pPr algn="l" indent="0" marL="0">
              <a:buNone/>
            </a:pPr>
            <a:r>
              <a:rPr lang="en-US" sz="2300" b="1" dirty="0">
                <a:solidFill>
                  <a:srgbClr val="F2F2F2"/>
                </a:solidFill>
                <a:latin typeface="Calibri" pitchFamily="34" charset="0"/>
                <a:ea typeface="Calibri" pitchFamily="34" charset="-122"/>
                <a:cs typeface="Calibri" pitchFamily="34" charset="-120"/>
              </a:rPr>
              <a:t>Checked against PyTorch, and refuses when it can't be sure</a:t>
            </a:r>
            <a:endParaRPr lang="en-US" sz="2300" dirty="0"/>
          </a:p>
        </p:txBody>
      </p:sp>
      <p:sp>
        <p:nvSpPr>
          <p:cNvPr id="5" name="Text 3"/>
          <p:cNvSpPr txBox="1"/>
          <p:nvPr/>
        </p:nvSpPr>
        <p:spPr>
          <a:xfrm>
            <a:off x="11338560" y="6473952"/>
            <a:ext cx="548640"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8</a:t>
            </a:r>
            <a:endParaRPr lang="en-US" sz="1100" dirty="0"/>
          </a:p>
        </p:txBody>
      </p:sp>
      <p:sp>
        <p:nvSpPr>
          <p:cNvPr id="6" name="Text 4"/>
          <p:cNvSpPr txBox="1"/>
          <p:nvPr/>
        </p:nvSpPr>
        <p:spPr>
          <a:xfrm>
            <a:off x="548640" y="868680"/>
            <a:ext cx="11064240" cy="45720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Two guarantees before a kernel ships: numerical output matches PyTorch within derived tolerance, and anything unsafe gets refused cleanly.</a:t>
            </a:r>
            <a:endParaRPr lang="en-US" sz="1400" dirty="0"/>
          </a:p>
        </p:txBody>
      </p:sp>
      <p:sp>
        <p:nvSpPr>
          <p:cNvPr id="7" name="Shape 5"/>
          <p:cNvSpPr/>
          <p:nvPr/>
        </p:nvSpPr>
        <p:spPr>
          <a:xfrm>
            <a:off x="1011784" y="1417320"/>
            <a:ext cx="10168128" cy="5404935"/>
          </a:xfrm>
          <a:prstGeom prst="rect">
            <a:avLst/>
          </a:prstGeom>
          <a:solidFill>
            <a:srgbClr val="141417"/>
          </a:solidFill>
          <a:ln w="15875">
            <a:solidFill>
              <a:srgbClr val="8A754C"/>
            </a:solidFill>
            <a:prstDash val="solid"/>
          </a:ln>
        </p:spPr>
      </p:sp>
      <p:sp>
        <p:nvSpPr>
          <p:cNvPr id="8" name="Text 6"/>
          <p:cNvSpPr txBox="1"/>
          <p:nvPr/>
        </p:nvSpPr>
        <p:spPr>
          <a:xfrm>
            <a:off x="1148944" y="1280160"/>
            <a:ext cx="9893808" cy="274320"/>
          </a:xfrm>
          <a:prstGeom prst="rect">
            <a:avLst/>
          </a:prstGeom>
          <a:solidFill>
            <a:srgbClr val="0D0D0F"/>
          </a:solidFill>
          <a:ln/>
        </p:spPr>
        <p:txBody>
          <a:bodyPr wrap="square" lIns="0" tIns="0" rIns="0" bIns="0" rtlCol="0" anchor="ctr"/>
          <a:lstStyle/>
          <a:p>
            <a:pPr algn="l" indent="0" marL="0">
              <a:buNone/>
            </a:pPr>
            <a:r>
              <a:rPr lang="en-US" sz="1050" dirty="0">
                <a:solidFill>
                  <a:srgbClr val="8A754C"/>
                </a:solidFill>
                <a:latin typeface="Courier New" pitchFamily="34" charset="0"/>
                <a:ea typeface="Courier New" pitchFamily="34" charset="-122"/>
                <a:cs typeface="Courier New" pitchFamily="34" charset="-120"/>
              </a:rPr>
              <a:t>Numerical Parity &amp; Fail-Closed Refusal Diff</a:t>
            </a:r>
            <a:endParaRPr lang="en-US" sz="1050" dirty="0"/>
          </a:p>
        </p:txBody>
      </p:sp>
      <p:pic>
        <p:nvPicPr>
          <p:cNvPr id="9" name="Image 0" descr="/home/bb/Downloads/51fa1ea3-d9d2-4d6b-a7cb-472d2db49eee.png">    </p:cNvPr>
          <p:cNvPicPr>
            <a:picLocks noChangeAspect="1"/>
          </p:cNvPicPr>
          <p:nvPr/>
        </p:nvPicPr>
        <p:blipFill>
          <a:blip r:embed="rId1"/>
          <a:stretch>
            <a:fillRect/>
          </a:stretch>
        </p:blipFill>
        <p:spPr>
          <a:xfrm>
            <a:off x="1066648" y="1472184"/>
            <a:ext cx="10058400" cy="5295207"/>
          </a:xfrm>
          <a:prstGeom prst="rect">
            <a:avLst/>
          </a:prstGeom>
        </p:spPr>
      </p:pic>
      <p:sp>
        <p:nvSpPr>
          <p:cNvPr id="10" name="Text 7"/>
          <p:cNvSpPr txBox="1"/>
          <p:nvPr/>
        </p:nvSpPr>
        <p:spPr>
          <a:xfrm>
            <a:off x="1011784" y="6877119"/>
            <a:ext cx="10058400" cy="320040"/>
          </a:xfrm>
          <a:prstGeom prst="rect">
            <a:avLst/>
          </a:prstGeom>
          <a:noFill/>
          <a:ln/>
        </p:spPr>
        <p:txBody>
          <a:bodyPr wrap="square" lIns="0" tIns="0" rIns="0" bIns="0" rtlCol="0" anchor="ctr"/>
          <a:lstStyle/>
          <a:p>
            <a:pPr algn="l" indent="0" marL="0">
              <a:buNone/>
            </a:pPr>
            <a:r>
              <a:rPr lang="en-US" sz="1100" i="1" dirty="0">
                <a:solidFill>
                  <a:srgbClr val="9A9A9A"/>
                </a:solidFill>
                <a:latin typeface="Calibri" pitchFamily="34" charset="0"/>
                <a:ea typeface="Calibri" pitchFamily="34" charset="-122"/>
                <a:cs typeface="Calibri" pitchFamily="34" charset="-120"/>
              </a:rPr>
              <a:t>observed max error 7.37e-03 within derived TF32 tolerance; unsupported ops (modulo / non-affine) cleanly refuse compilation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F"/>
        </a:solidFill>
      </p:bgPr>
    </p:bg>
    <p:spTree>
      <p:nvGrpSpPr>
        <p:cNvPr id="1" name=""/>
        <p:cNvGrpSpPr/>
        <p:nvPr/>
      </p:nvGrpSpPr>
      <p:grpSpPr>
        <a:xfrm>
          <a:off x="0" y="0"/>
          <a:ext cx="0" cy="0"/>
          <a:chOff x="0" y="0"/>
          <a:chExt cx="0" cy="0"/>
        </a:xfrm>
      </p:grpSpPr>
      <p:sp>
        <p:nvSpPr>
          <p:cNvPr id="2" name="Shape 0"/>
          <p:cNvSpPr/>
          <p:nvPr/>
        </p:nvSpPr>
        <p:spPr>
          <a:xfrm>
            <a:off x="457200" y="256032"/>
            <a:ext cx="1508760" cy="402336"/>
          </a:xfrm>
          <a:prstGeom prst="roundRect">
            <a:avLst>
              <a:gd name="adj" fmla="val 18182"/>
            </a:avLst>
          </a:prstGeom>
          <a:solidFill>
            <a:srgbClr val="0D0D0F"/>
          </a:solidFill>
          <a:ln w="12700">
            <a:solidFill>
              <a:srgbClr val="8A754C"/>
            </a:solidFill>
            <a:prstDash val="solid"/>
          </a:ln>
        </p:spPr>
      </p:sp>
      <p:sp>
        <p:nvSpPr>
          <p:cNvPr id="3" name="Text 1"/>
          <p:cNvSpPr txBox="1"/>
          <p:nvPr/>
        </p:nvSpPr>
        <p:spPr>
          <a:xfrm>
            <a:off x="457200" y="256032"/>
            <a:ext cx="1508760" cy="402336"/>
          </a:xfrm>
          <a:prstGeom prst="rect">
            <a:avLst/>
          </a:prstGeom>
          <a:noFill/>
          <a:ln/>
        </p:spPr>
        <p:txBody>
          <a:bodyPr wrap="square" lIns="0" tIns="0" rIns="0" bIns="0" rtlCol="0" anchor="ctr"/>
          <a:lstStyle/>
          <a:p>
            <a:pPr algn="ctr" indent="0" marL="0">
              <a:buNone/>
            </a:pPr>
            <a:r>
              <a:rPr lang="en-US" sz="1150" b="1" dirty="0">
                <a:solidFill>
                  <a:srgbClr val="D9A94E"/>
                </a:solidFill>
                <a:latin typeface="Courier New" pitchFamily="34" charset="0"/>
                <a:ea typeface="Courier New" pitchFamily="34" charset="-122"/>
                <a:cs typeface="Courier New" pitchFamily="34" charset="-120"/>
              </a:rPr>
              <a:t>ValiumX</a:t>
            </a:r>
            <a:endParaRPr lang="en-US" sz="1150" dirty="0"/>
          </a:p>
        </p:txBody>
      </p:sp>
      <p:sp>
        <p:nvSpPr>
          <p:cNvPr id="4" name="Text 2"/>
          <p:cNvSpPr txBox="1"/>
          <p:nvPr/>
        </p:nvSpPr>
        <p:spPr>
          <a:xfrm>
            <a:off x="2148840" y="201168"/>
            <a:ext cx="9418320" cy="502920"/>
          </a:xfrm>
          <a:prstGeom prst="rect">
            <a:avLst/>
          </a:prstGeom>
          <a:noFill/>
          <a:ln/>
        </p:spPr>
        <p:txBody>
          <a:bodyPr wrap="square" lIns="0" tIns="0" rIns="0" bIns="0" rtlCol="0" anchor="ctr"/>
          <a:lstStyle/>
          <a:p>
            <a:pPr algn="l" indent="0" marL="0">
              <a:buNone/>
            </a:pPr>
            <a:r>
              <a:rPr lang="en-US" sz="2300" b="1" dirty="0">
                <a:solidFill>
                  <a:srgbClr val="F2F2F2"/>
                </a:solidFill>
                <a:latin typeface="Calibri" pitchFamily="34" charset="0"/>
                <a:ea typeface="Calibri" pitchFamily="34" charset="-122"/>
                <a:cs typeface="Calibri" pitchFamily="34" charset="-120"/>
              </a:rPr>
              <a:t>Dynamic 2:4 structured sparsity acceleration</a:t>
            </a:r>
            <a:endParaRPr lang="en-US" sz="2300" dirty="0"/>
          </a:p>
        </p:txBody>
      </p:sp>
      <p:sp>
        <p:nvSpPr>
          <p:cNvPr id="5" name="Text 3"/>
          <p:cNvSpPr txBox="1"/>
          <p:nvPr/>
        </p:nvSpPr>
        <p:spPr>
          <a:xfrm>
            <a:off x="11338560" y="6473952"/>
            <a:ext cx="548640"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9</a:t>
            </a:r>
            <a:endParaRPr lang="en-US" sz="1100" dirty="0"/>
          </a:p>
        </p:txBody>
      </p:sp>
      <p:sp>
        <p:nvSpPr>
          <p:cNvPr id="6" name="Text 4"/>
          <p:cNvSpPr txBox="1"/>
          <p:nvPr/>
        </p:nvSpPr>
        <p:spPr>
          <a:xfrm>
            <a:off x="548640" y="868680"/>
            <a:ext cx="11064240" cy="45720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Hardware accelerators with sparse tensor cores require specialized instruction selection. TritonFlow detects compressed patterns and selects sparse hardware ops.</a:t>
            </a:r>
            <a:endParaRPr lang="en-US" sz="1400" dirty="0"/>
          </a:p>
        </p:txBody>
      </p:sp>
      <p:sp>
        <p:nvSpPr>
          <p:cNvPr id="7" name="Shape 5"/>
          <p:cNvSpPr/>
          <p:nvPr/>
        </p:nvSpPr>
        <p:spPr>
          <a:xfrm>
            <a:off x="502920" y="1417320"/>
            <a:ext cx="7335302" cy="4544568"/>
          </a:xfrm>
          <a:prstGeom prst="rect">
            <a:avLst/>
          </a:prstGeom>
          <a:solidFill>
            <a:srgbClr val="141417"/>
          </a:solidFill>
          <a:ln w="15875">
            <a:solidFill>
              <a:srgbClr val="8A754C"/>
            </a:solidFill>
            <a:prstDash val="solid"/>
          </a:ln>
        </p:spPr>
      </p:sp>
      <p:sp>
        <p:nvSpPr>
          <p:cNvPr id="8" name="Text 6"/>
          <p:cNvSpPr txBox="1"/>
          <p:nvPr/>
        </p:nvSpPr>
        <p:spPr>
          <a:xfrm>
            <a:off x="640080" y="1280160"/>
            <a:ext cx="7060982" cy="274320"/>
          </a:xfrm>
          <a:prstGeom prst="rect">
            <a:avLst/>
          </a:prstGeom>
          <a:solidFill>
            <a:srgbClr val="0D0D0F"/>
          </a:solidFill>
          <a:ln/>
        </p:spPr>
        <p:txBody>
          <a:bodyPr wrap="square" lIns="0" tIns="0" rIns="0" bIns="0" rtlCol="0" anchor="ctr"/>
          <a:lstStyle/>
          <a:p>
            <a:pPr algn="l" indent="0" marL="0">
              <a:buNone/>
            </a:pPr>
            <a:r>
              <a:rPr lang="en-US" sz="1050" dirty="0">
                <a:solidFill>
                  <a:srgbClr val="8A754C"/>
                </a:solidFill>
                <a:latin typeface="Courier New" pitchFamily="34" charset="0"/>
                <a:ea typeface="Courier New" pitchFamily="34" charset="-122"/>
                <a:cs typeface="Courier New" pitchFamily="34" charset="-120"/>
              </a:rPr>
              <a:t>Mutated Triton JIT AST &amp; Live Emulation Showcase</a:t>
            </a:r>
            <a:endParaRPr lang="en-US" sz="1050" dirty="0"/>
          </a:p>
        </p:txBody>
      </p:sp>
      <p:pic>
        <p:nvPicPr>
          <p:cNvPr id="9" name="Image 0" descr="/home/bb/Downloads/e9cfa936-c105-4943-b636-283a679bfc35.png">    </p:cNvPr>
          <p:cNvPicPr>
            <a:picLocks noChangeAspect="1"/>
          </p:cNvPicPr>
          <p:nvPr/>
        </p:nvPicPr>
        <p:blipFill>
          <a:blip r:embed="rId1"/>
          <a:stretch>
            <a:fillRect/>
          </a:stretch>
        </p:blipFill>
        <p:spPr>
          <a:xfrm>
            <a:off x="557784" y="1472184"/>
            <a:ext cx="7225574" cy="4434840"/>
          </a:xfrm>
          <a:prstGeom prst="rect">
            <a:avLst/>
          </a:prstGeom>
        </p:spPr>
      </p:pic>
      <p:sp>
        <p:nvSpPr>
          <p:cNvPr id="10" name="Text 7"/>
          <p:cNvSpPr txBox="1"/>
          <p:nvPr/>
        </p:nvSpPr>
        <p:spPr>
          <a:xfrm>
            <a:off x="502920" y="6016752"/>
            <a:ext cx="7225574" cy="320040"/>
          </a:xfrm>
          <a:prstGeom prst="rect">
            <a:avLst/>
          </a:prstGeom>
          <a:noFill/>
          <a:ln/>
        </p:spPr>
        <p:txBody>
          <a:bodyPr wrap="square" lIns="0" tIns="0" rIns="0" bIns="0" rtlCol="0" anchor="ctr"/>
          <a:lstStyle/>
          <a:p>
            <a:pPr algn="l" indent="0" marL="0">
              <a:buNone/>
            </a:pPr>
            <a:r>
              <a:rPr lang="en-US" sz="1100" i="1" dirty="0">
                <a:solidFill>
                  <a:srgbClr val="9A9A9A"/>
                </a:solidFill>
                <a:latin typeface="Calibri" pitchFamily="34" charset="0"/>
                <a:ea typeface="Calibri" pitchFamily="34" charset="-122"/>
                <a:cs typeface="Calibri" pitchFamily="34" charset="-120"/>
              </a:rPr>
              <a:t>mutated sparse kernel: 50% memory bandwidth saved, selects TCU_WGMMA_SP32 opcode</a:t>
            </a:r>
            <a:endParaRPr lang="en-US" sz="1100" dirty="0"/>
          </a:p>
        </p:txBody>
      </p:sp>
      <p:sp>
        <p:nvSpPr>
          <p:cNvPr id="11" name="Shape 8"/>
          <p:cNvSpPr/>
          <p:nvPr/>
        </p:nvSpPr>
        <p:spPr>
          <a:xfrm>
            <a:off x="8092440" y="1417320"/>
            <a:ext cx="3566160" cy="2103120"/>
          </a:xfrm>
          <a:prstGeom prst="rect">
            <a:avLst/>
          </a:prstGeom>
          <a:solidFill>
            <a:srgbClr val="141417"/>
          </a:solidFill>
          <a:ln w="15875">
            <a:solidFill>
              <a:srgbClr val="3ECF6E"/>
            </a:solidFill>
            <a:prstDash val="solid"/>
          </a:ln>
        </p:spPr>
      </p:sp>
      <p:sp>
        <p:nvSpPr>
          <p:cNvPr id="12" name="Text 9"/>
          <p:cNvSpPr txBox="1"/>
          <p:nvPr/>
        </p:nvSpPr>
        <p:spPr>
          <a:xfrm>
            <a:off x="8229600" y="1280160"/>
            <a:ext cx="3291840" cy="274320"/>
          </a:xfrm>
          <a:prstGeom prst="rect">
            <a:avLst/>
          </a:prstGeom>
          <a:solidFill>
            <a:srgbClr val="0D0D0F"/>
          </a:solidFill>
          <a:ln/>
        </p:spPr>
        <p:txBody>
          <a:bodyPr wrap="square" lIns="0" tIns="0" rIns="0" bIns="0" rtlCol="0" anchor="ctr"/>
          <a:lstStyle/>
          <a:p>
            <a:pPr algn="l" indent="0" marL="0">
              <a:buNone/>
            </a:pPr>
            <a:r>
              <a:rPr lang="en-US" sz="1050" dirty="0">
                <a:solidFill>
                  <a:srgbClr val="3ECF6E"/>
                </a:solidFill>
                <a:latin typeface="Courier New" pitchFamily="34" charset="0"/>
                <a:ea typeface="Courier New" pitchFamily="34" charset="-122"/>
                <a:cs typeface="Courier New" pitchFamily="34" charset="-120"/>
              </a:rPr>
              <a:t>2:4 Sparse Benefits</a:t>
            </a:r>
            <a:endParaRPr lang="en-US" sz="1050" dirty="0"/>
          </a:p>
        </p:txBody>
      </p:sp>
      <p:sp>
        <p:nvSpPr>
          <p:cNvPr id="13" name="Text 10"/>
          <p:cNvSpPr txBox="1"/>
          <p:nvPr/>
        </p:nvSpPr>
        <p:spPr>
          <a:xfrm>
            <a:off x="8275320" y="1737360"/>
            <a:ext cx="3200400" cy="1645920"/>
          </a:xfrm>
          <a:prstGeom prst="rect">
            <a:avLst/>
          </a:prstGeom>
          <a:noFill/>
          <a:ln/>
        </p:spPr>
        <p:txBody>
          <a:bodyPr wrap="square" lIns="0" tIns="0" rIns="0" bIns="0" rtlCol="0" anchor="ctr"/>
          <a:lstStyle/>
          <a:p>
            <a:pPr indent="0" marL="0">
              <a:buNone/>
            </a:pPr>
            <a:r>
              <a:rPr lang="en-US" sz="1250" dirty="0">
                <a:solidFill>
                  <a:srgbClr val="F2F2F2"/>
                </a:solidFill>
                <a:latin typeface="Calibri" pitchFamily="34" charset="0"/>
                <a:ea typeface="Calibri" pitchFamily="34" charset="-122"/>
                <a:cs typeface="Calibri" pitchFamily="34" charset="-120"/>
              </a:rPr>
              <a:t>• 50% Memory Reduction: Compresses weight tensors to metadata indices</a:t>
            </a:r>
            <a:endParaRPr lang="en-US" sz="1250" dirty="0"/>
          </a:p>
          <a:p>
            <a:pPr indent="0" marL="0">
              <a:buNone/>
            </a:pPr>
            <a:r>
              <a:rPr lang="en-US" sz="1250" dirty="0">
                <a:solidFill>
                  <a:srgbClr val="F2F2F2"/>
                </a:solidFill>
                <a:latin typeface="Calibri" pitchFamily="34" charset="0"/>
                <a:ea typeface="Calibri" pitchFamily="34" charset="-122"/>
                <a:cs typeface="Calibri" pitchFamily="34" charset="-120"/>
              </a:rPr>
              <a:t>• 2x Math Density: Doubles effective throughput on sparse tensor cores</a:t>
            </a:r>
            <a:endParaRPr lang="en-US" sz="1250" dirty="0"/>
          </a:p>
          <a:p>
            <a:pPr indent="0" marL="0">
              <a:buNone/>
            </a:pPr>
            <a:r>
              <a:rPr lang="en-US" sz="1250" dirty="0">
                <a:solidFill>
                  <a:srgbClr val="F2F2F2"/>
                </a:solidFill>
                <a:latin typeface="Calibri" pitchFamily="34" charset="0"/>
                <a:ea typeface="Calibri" pitchFamily="34" charset="-122"/>
                <a:cs typeface="Calibri" pitchFamily="34" charset="-120"/>
              </a:rPr>
              <a:t>• Automatic Opcode: Emits TCU_WGMMA_SP32 at 19.2 cycle tile cost</a:t>
            </a:r>
            <a:endParaRPr lang="en-US" sz="1250" dirty="0"/>
          </a:p>
        </p:txBody>
      </p:sp>
      <p:sp>
        <p:nvSpPr>
          <p:cNvPr id="14" name="Shape 11"/>
          <p:cNvSpPr/>
          <p:nvPr/>
        </p:nvSpPr>
        <p:spPr>
          <a:xfrm>
            <a:off x="8092440" y="3749040"/>
            <a:ext cx="3566160" cy="2103120"/>
          </a:xfrm>
          <a:prstGeom prst="rect">
            <a:avLst/>
          </a:prstGeom>
          <a:solidFill>
            <a:srgbClr val="141417"/>
          </a:solidFill>
          <a:ln w="15875">
            <a:solidFill>
              <a:srgbClr val="8A754C"/>
            </a:solidFill>
            <a:prstDash val="solid"/>
          </a:ln>
        </p:spPr>
      </p:sp>
      <p:sp>
        <p:nvSpPr>
          <p:cNvPr id="15" name="Text 12"/>
          <p:cNvSpPr txBox="1"/>
          <p:nvPr/>
        </p:nvSpPr>
        <p:spPr>
          <a:xfrm>
            <a:off x="8229600" y="3611880"/>
            <a:ext cx="3291840" cy="274320"/>
          </a:xfrm>
          <a:prstGeom prst="rect">
            <a:avLst/>
          </a:prstGeom>
          <a:solidFill>
            <a:srgbClr val="0D0D0F"/>
          </a:solidFill>
          <a:ln/>
        </p:spPr>
        <p:txBody>
          <a:bodyPr wrap="square" lIns="0" tIns="0" rIns="0" bIns="0" rtlCol="0" anchor="ctr"/>
          <a:lstStyle/>
          <a:p>
            <a:pPr algn="l" indent="0" marL="0">
              <a:buNone/>
            </a:pPr>
            <a:r>
              <a:rPr lang="en-US" sz="1050" dirty="0">
                <a:solidFill>
                  <a:srgbClr val="8A754C"/>
                </a:solidFill>
                <a:latin typeface="Courier New" pitchFamily="34" charset="0"/>
                <a:ea typeface="Courier New" pitchFamily="34" charset="-122"/>
                <a:cs typeface="Courier New" pitchFamily="34" charset="-120"/>
              </a:rPr>
              <a:t>Schema Integration</a:t>
            </a:r>
            <a:endParaRPr lang="en-US" sz="1050" dirty="0"/>
          </a:p>
        </p:txBody>
      </p:sp>
      <p:sp>
        <p:nvSpPr>
          <p:cNvPr id="16" name="Text 13"/>
          <p:cNvSpPr txBox="1"/>
          <p:nvPr/>
        </p:nvSpPr>
        <p:spPr>
          <a:xfrm>
            <a:off x="8275320" y="4069080"/>
            <a:ext cx="3200400" cy="1645920"/>
          </a:xfrm>
          <a:prstGeom prst="rect">
            <a:avLst/>
          </a:prstGeom>
          <a:noFill/>
          <a:ln/>
        </p:spPr>
        <p:txBody>
          <a:bodyPr wrap="square" lIns="0" tIns="0" rIns="0" bIns="0" rtlCol="0" anchor="ctr"/>
          <a:lstStyle/>
          <a:p>
            <a:pPr indent="0" marL="0">
              <a:buNone/>
            </a:pPr>
            <a:r>
              <a:rPr lang="en-US" sz="1100" dirty="0">
                <a:solidFill>
                  <a:srgbClr val="D9A94E"/>
                </a:solidFill>
                <a:latin typeface="Courier New" pitchFamily="34" charset="0"/>
                <a:ea typeface="Courier New" pitchFamily="34" charset="-122"/>
                <a:cs typeface="Courier New" pitchFamily="34" charset="-120"/>
              </a:rPr>
              <a:t>schema specifies: format=2:4_sparse</a:t>
            </a:r>
            <a:endParaRPr lang="en-US" sz="1100" dirty="0"/>
          </a:p>
          <a:p>
            <a:pPr indent="0" marL="0">
              <a:buNone/>
            </a:pPr>
            <a:endParaRPr lang="en-US" sz="1100" dirty="0"/>
          </a:p>
          <a:p>
            <a:pPr indent="0" marL="0">
              <a:buNone/>
            </a:pPr>
            <a:r>
              <a:rPr lang="en-US" sz="1100" dirty="0">
                <a:solidFill>
                  <a:srgbClr val="D9A94E"/>
                </a:solidFill>
                <a:latin typeface="Courier New" pitchFamily="34" charset="0"/>
                <a:ea typeface="Courier New" pitchFamily="34" charset="-122"/>
                <a:cs typeface="Courier New" pitchFamily="34" charset="-120"/>
              </a:rPr>
              <a:t>Selector matches sparsity metadata constraint and overrides dense gemm instruction automatically without code changes.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0F"/>
        </a:solidFill>
      </p:bgPr>
    </p:bg>
    <p:spTree>
      <p:nvGrpSpPr>
        <p:cNvPr id="1" name=""/>
        <p:cNvGrpSpPr/>
        <p:nvPr/>
      </p:nvGrpSpPr>
      <p:grpSpPr>
        <a:xfrm>
          <a:off x="0" y="0"/>
          <a:ext cx="0" cy="0"/>
          <a:chOff x="0" y="0"/>
          <a:chExt cx="0" cy="0"/>
        </a:xfrm>
      </p:grpSpPr>
      <p:sp>
        <p:nvSpPr>
          <p:cNvPr id="2" name="Shape 0"/>
          <p:cNvSpPr/>
          <p:nvPr/>
        </p:nvSpPr>
        <p:spPr>
          <a:xfrm>
            <a:off x="457200" y="256032"/>
            <a:ext cx="1508760" cy="402336"/>
          </a:xfrm>
          <a:prstGeom prst="roundRect">
            <a:avLst>
              <a:gd name="adj" fmla="val 18182"/>
            </a:avLst>
          </a:prstGeom>
          <a:solidFill>
            <a:srgbClr val="0D0D0F"/>
          </a:solidFill>
          <a:ln w="12700">
            <a:solidFill>
              <a:srgbClr val="8A754C"/>
            </a:solidFill>
            <a:prstDash val="solid"/>
          </a:ln>
        </p:spPr>
      </p:sp>
      <p:sp>
        <p:nvSpPr>
          <p:cNvPr id="3" name="Text 1"/>
          <p:cNvSpPr txBox="1"/>
          <p:nvPr/>
        </p:nvSpPr>
        <p:spPr>
          <a:xfrm>
            <a:off x="457200" y="256032"/>
            <a:ext cx="1508760" cy="402336"/>
          </a:xfrm>
          <a:prstGeom prst="rect">
            <a:avLst/>
          </a:prstGeom>
          <a:noFill/>
          <a:ln/>
        </p:spPr>
        <p:txBody>
          <a:bodyPr wrap="square" lIns="0" tIns="0" rIns="0" bIns="0" rtlCol="0" anchor="ctr"/>
          <a:lstStyle/>
          <a:p>
            <a:pPr algn="ctr" indent="0" marL="0">
              <a:buNone/>
            </a:pPr>
            <a:r>
              <a:rPr lang="en-US" sz="1150" b="1" dirty="0">
                <a:solidFill>
                  <a:srgbClr val="D9A94E"/>
                </a:solidFill>
                <a:latin typeface="Courier New" pitchFamily="34" charset="0"/>
                <a:ea typeface="Courier New" pitchFamily="34" charset="-122"/>
                <a:cs typeface="Courier New" pitchFamily="34" charset="-120"/>
              </a:rPr>
              <a:t>ValiumX</a:t>
            </a:r>
            <a:endParaRPr lang="en-US" sz="1150" dirty="0"/>
          </a:p>
        </p:txBody>
      </p:sp>
      <p:sp>
        <p:nvSpPr>
          <p:cNvPr id="4" name="Text 2"/>
          <p:cNvSpPr txBox="1"/>
          <p:nvPr/>
        </p:nvSpPr>
        <p:spPr>
          <a:xfrm>
            <a:off x="2148840" y="201168"/>
            <a:ext cx="9418320" cy="502920"/>
          </a:xfrm>
          <a:prstGeom prst="rect">
            <a:avLst/>
          </a:prstGeom>
          <a:noFill/>
          <a:ln/>
        </p:spPr>
        <p:txBody>
          <a:bodyPr wrap="square" lIns="0" tIns="0" rIns="0" bIns="0" rtlCol="0" anchor="ctr"/>
          <a:lstStyle/>
          <a:p>
            <a:pPr algn="l" indent="0" marL="0">
              <a:buNone/>
            </a:pPr>
            <a:r>
              <a:rPr lang="en-US" sz="2300" b="1" dirty="0">
                <a:solidFill>
                  <a:srgbClr val="F2F2F2"/>
                </a:solidFill>
                <a:latin typeface="Calibri" pitchFamily="34" charset="0"/>
                <a:ea typeface="Calibri" pitchFamily="34" charset="-122"/>
                <a:cs typeface="Calibri" pitchFamily="34" charset="-120"/>
              </a:rPr>
              <a:t>Adversarial verification: surviving 82 injected bugs</a:t>
            </a:r>
            <a:endParaRPr lang="en-US" sz="2300" dirty="0"/>
          </a:p>
        </p:txBody>
      </p:sp>
      <p:sp>
        <p:nvSpPr>
          <p:cNvPr id="5" name="Text 3"/>
          <p:cNvSpPr txBox="1"/>
          <p:nvPr/>
        </p:nvSpPr>
        <p:spPr>
          <a:xfrm>
            <a:off x="11338560" y="6473952"/>
            <a:ext cx="548640"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10</a:t>
            </a:r>
            <a:endParaRPr lang="en-US" sz="1100" dirty="0"/>
          </a:p>
        </p:txBody>
      </p:sp>
      <p:sp>
        <p:nvSpPr>
          <p:cNvPr id="6" name="Text 4"/>
          <p:cNvSpPr txBox="1"/>
          <p:nvPr/>
        </p:nvSpPr>
        <p:spPr>
          <a:xfrm>
            <a:off x="548640" y="868680"/>
            <a:ext cx="11064240" cy="45720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Tests can be self-fulfilling prophecies. We subjected TritonFlow to automated adversarial mutation testing (qc mutate) to prove the test suite is real.</a:t>
            </a:r>
            <a:endParaRPr lang="en-US" sz="1400" dirty="0"/>
          </a:p>
        </p:txBody>
      </p:sp>
      <p:sp>
        <p:nvSpPr>
          <p:cNvPr id="7" name="Shape 5"/>
          <p:cNvSpPr/>
          <p:nvPr/>
        </p:nvSpPr>
        <p:spPr>
          <a:xfrm>
            <a:off x="548640" y="1463040"/>
            <a:ext cx="3383280" cy="1737360"/>
          </a:xfrm>
          <a:prstGeom prst="rect">
            <a:avLst/>
          </a:prstGeom>
          <a:solidFill>
            <a:srgbClr val="141417"/>
          </a:solidFill>
          <a:ln w="15875">
            <a:solidFill>
              <a:srgbClr val="3ECF6E"/>
            </a:solidFill>
            <a:prstDash val="solid"/>
          </a:ln>
        </p:spPr>
      </p:sp>
      <p:sp>
        <p:nvSpPr>
          <p:cNvPr id="8" name="Text 6"/>
          <p:cNvSpPr txBox="1"/>
          <p:nvPr/>
        </p:nvSpPr>
        <p:spPr>
          <a:xfrm>
            <a:off x="685800" y="1325880"/>
            <a:ext cx="3108960" cy="274320"/>
          </a:xfrm>
          <a:prstGeom prst="rect">
            <a:avLst/>
          </a:prstGeom>
          <a:solidFill>
            <a:srgbClr val="0D0D0F"/>
          </a:solidFill>
          <a:ln/>
        </p:spPr>
        <p:txBody>
          <a:bodyPr wrap="square" lIns="0" tIns="0" rIns="0" bIns="0" rtlCol="0" anchor="ctr"/>
          <a:lstStyle/>
          <a:p>
            <a:pPr algn="l" indent="0" marL="0">
              <a:buNone/>
            </a:pPr>
            <a:r>
              <a:rPr lang="en-US" sz="1050" dirty="0">
                <a:solidFill>
                  <a:srgbClr val="3ECF6E"/>
                </a:solidFill>
                <a:latin typeface="Courier New" pitchFamily="34" charset="0"/>
                <a:ea typeface="Courier New" pitchFamily="34" charset="-122"/>
                <a:cs typeface="Courier New" pitchFamily="34" charset="-120"/>
              </a:rPr>
              <a:t>Mutation Score</a:t>
            </a:r>
            <a:endParaRPr lang="en-US" sz="1050" dirty="0"/>
          </a:p>
        </p:txBody>
      </p:sp>
      <p:sp>
        <p:nvSpPr>
          <p:cNvPr id="9" name="Text 7"/>
          <p:cNvSpPr txBox="1"/>
          <p:nvPr/>
        </p:nvSpPr>
        <p:spPr>
          <a:xfrm>
            <a:off x="548640" y="1691640"/>
            <a:ext cx="3383280" cy="731520"/>
          </a:xfrm>
          <a:prstGeom prst="rect">
            <a:avLst/>
          </a:prstGeom>
          <a:noFill/>
          <a:ln/>
        </p:spPr>
        <p:txBody>
          <a:bodyPr wrap="square" lIns="0" tIns="0" rIns="0" bIns="0" rtlCol="0" anchor="ctr"/>
          <a:lstStyle/>
          <a:p>
            <a:pPr algn="ctr" indent="0" marL="0">
              <a:buNone/>
            </a:pPr>
            <a:r>
              <a:rPr lang="en-US" sz="3200" b="1" dirty="0">
                <a:solidFill>
                  <a:srgbClr val="3ECF6E"/>
                </a:solidFill>
                <a:latin typeface="Courier New" pitchFamily="34" charset="0"/>
                <a:ea typeface="Courier New" pitchFamily="34" charset="-122"/>
                <a:cs typeface="Courier New" pitchFamily="34" charset="-120"/>
              </a:rPr>
              <a:t>82 / 82</a:t>
            </a:r>
            <a:endParaRPr lang="en-US" sz="3200" dirty="0"/>
          </a:p>
        </p:txBody>
      </p:sp>
      <p:sp>
        <p:nvSpPr>
          <p:cNvPr id="10" name="Text 8"/>
          <p:cNvSpPr txBox="1"/>
          <p:nvPr/>
        </p:nvSpPr>
        <p:spPr>
          <a:xfrm>
            <a:off x="548640" y="2423160"/>
            <a:ext cx="3383280" cy="640080"/>
          </a:xfrm>
          <a:prstGeom prst="rect">
            <a:avLst/>
          </a:prstGeom>
          <a:noFill/>
          <a:ln/>
        </p:spPr>
        <p:txBody>
          <a:bodyPr wrap="square" lIns="0" tIns="0" rIns="0" bIns="0" rtlCol="0" anchor="ctr"/>
          <a:lstStyle/>
          <a:p>
            <a:pPr algn="ctr" indent="0" marL="0">
              <a:buNone/>
            </a:pPr>
            <a:r>
              <a:rPr lang="en-US" sz="1200" dirty="0">
                <a:solidFill>
                  <a:srgbClr val="9A9A9A"/>
                </a:solidFill>
                <a:latin typeface="Calibri" pitchFamily="34" charset="0"/>
                <a:ea typeface="Calibri" pitchFamily="34" charset="-122"/>
                <a:cs typeface="Calibri" pitchFamily="34" charset="-120"/>
              </a:rPr>
              <a:t>100% mutants caught</a:t>
            </a:r>
            <a:endParaRPr lang="en-US" sz="1200" dirty="0"/>
          </a:p>
          <a:p>
            <a:pPr algn="ctr" indent="0" marL="0">
              <a:buNone/>
            </a:pPr>
            <a:r>
              <a:rPr lang="en-US" sz="1200" dirty="0">
                <a:solidFill>
                  <a:srgbClr val="9A9A9A"/>
                </a:solidFill>
                <a:latin typeface="Calibri" pitchFamily="34" charset="0"/>
                <a:ea typeface="Calibri" pitchFamily="34" charset="-122"/>
                <a:cs typeface="Calibri" pitchFamily="34" charset="-120"/>
              </a:rPr>
              <a:t>0 mutants survived</a:t>
            </a:r>
            <a:endParaRPr lang="en-US" sz="1200" dirty="0"/>
          </a:p>
        </p:txBody>
      </p:sp>
      <p:sp>
        <p:nvSpPr>
          <p:cNvPr id="11" name="Shape 9"/>
          <p:cNvSpPr/>
          <p:nvPr/>
        </p:nvSpPr>
        <p:spPr>
          <a:xfrm>
            <a:off x="4389120" y="1463040"/>
            <a:ext cx="3383280" cy="1737360"/>
          </a:xfrm>
          <a:prstGeom prst="rect">
            <a:avLst/>
          </a:prstGeom>
          <a:solidFill>
            <a:srgbClr val="141417"/>
          </a:solidFill>
          <a:ln w="15875">
            <a:solidFill>
              <a:srgbClr val="D9A94E"/>
            </a:solidFill>
            <a:prstDash val="solid"/>
          </a:ln>
        </p:spPr>
      </p:sp>
      <p:sp>
        <p:nvSpPr>
          <p:cNvPr id="12" name="Text 10"/>
          <p:cNvSpPr txBox="1"/>
          <p:nvPr/>
        </p:nvSpPr>
        <p:spPr>
          <a:xfrm>
            <a:off x="4526280" y="1325880"/>
            <a:ext cx="3108960" cy="274320"/>
          </a:xfrm>
          <a:prstGeom prst="rect">
            <a:avLst/>
          </a:prstGeom>
          <a:solidFill>
            <a:srgbClr val="0D0D0F"/>
          </a:solidFill>
          <a:ln/>
        </p:spPr>
        <p:txBody>
          <a:bodyPr wrap="square" lIns="0" tIns="0" rIns="0" bIns="0" rtlCol="0" anchor="ctr"/>
          <a:lstStyle/>
          <a:p>
            <a:pPr algn="l" indent="0" marL="0">
              <a:buNone/>
            </a:pPr>
            <a:r>
              <a:rPr lang="en-US" sz="1050" dirty="0">
                <a:solidFill>
                  <a:srgbClr val="D9A94E"/>
                </a:solidFill>
                <a:latin typeface="Courier New" pitchFamily="34" charset="0"/>
                <a:ea typeface="Courier New" pitchFamily="34" charset="-122"/>
                <a:cs typeface="Courier New" pitchFamily="34" charset="-120"/>
              </a:rPr>
              <a:t>TF32 Truncation</a:t>
            </a:r>
            <a:endParaRPr lang="en-US" sz="1050" dirty="0"/>
          </a:p>
        </p:txBody>
      </p:sp>
      <p:sp>
        <p:nvSpPr>
          <p:cNvPr id="13" name="Text 11"/>
          <p:cNvSpPr txBox="1"/>
          <p:nvPr/>
        </p:nvSpPr>
        <p:spPr>
          <a:xfrm>
            <a:off x="4389120" y="1691640"/>
            <a:ext cx="3383280" cy="731520"/>
          </a:xfrm>
          <a:prstGeom prst="rect">
            <a:avLst/>
          </a:prstGeom>
          <a:noFill/>
          <a:ln/>
        </p:spPr>
        <p:txBody>
          <a:bodyPr wrap="square" lIns="0" tIns="0" rIns="0" bIns="0" rtlCol="0" anchor="ctr"/>
          <a:lstStyle/>
          <a:p>
            <a:pPr algn="ctr" indent="0" marL="0">
              <a:buNone/>
            </a:pPr>
            <a:r>
              <a:rPr lang="en-US" sz="3200" b="1" dirty="0">
                <a:solidFill>
                  <a:srgbClr val="D9A94E"/>
                </a:solidFill>
                <a:latin typeface="Courier New" pitchFamily="34" charset="0"/>
                <a:ea typeface="Courier New" pitchFamily="34" charset="-122"/>
                <a:cs typeface="Courier New" pitchFamily="34" charset="-120"/>
              </a:rPr>
              <a:t>198,000</a:t>
            </a:r>
            <a:endParaRPr lang="en-US" sz="3200" dirty="0"/>
          </a:p>
        </p:txBody>
      </p:sp>
      <p:sp>
        <p:nvSpPr>
          <p:cNvPr id="14" name="Text 12"/>
          <p:cNvSpPr txBox="1"/>
          <p:nvPr/>
        </p:nvSpPr>
        <p:spPr>
          <a:xfrm>
            <a:off x="4389120" y="2423160"/>
            <a:ext cx="3383280" cy="640080"/>
          </a:xfrm>
          <a:prstGeom prst="rect">
            <a:avLst/>
          </a:prstGeom>
          <a:noFill/>
          <a:ln/>
        </p:spPr>
        <p:txBody>
          <a:bodyPr wrap="square" lIns="0" tIns="0" rIns="0" bIns="0" rtlCol="0" anchor="ctr"/>
          <a:lstStyle/>
          <a:p>
            <a:pPr algn="ctr" indent="0" marL="0">
              <a:buNone/>
            </a:pPr>
            <a:r>
              <a:rPr lang="en-US" sz="1200" dirty="0">
                <a:solidFill>
                  <a:srgbClr val="9A9A9A"/>
                </a:solidFill>
                <a:latin typeface="Calibri" pitchFamily="34" charset="0"/>
                <a:ea typeface="Calibri" pitchFamily="34" charset="-122"/>
                <a:cs typeface="Calibri" pitchFamily="34" charset="-120"/>
              </a:rPr>
              <a:t>Random bit patterns tested</a:t>
            </a:r>
            <a:endParaRPr lang="en-US" sz="1200" dirty="0"/>
          </a:p>
          <a:p>
            <a:pPr algn="ctr" indent="0" marL="0">
              <a:buNone/>
            </a:pPr>
            <a:r>
              <a:rPr lang="en-US" sz="1200" dirty="0">
                <a:solidFill>
                  <a:srgbClr val="9A9A9A"/>
                </a:solidFill>
                <a:latin typeface="Calibri" pitchFamily="34" charset="0"/>
                <a:ea typeface="Calibri" pitchFamily="34" charset="-122"/>
                <a:cs typeface="Calibri" pitchFamily="34" charset="-120"/>
              </a:rPr>
              <a:t>0 rounding violations</a:t>
            </a:r>
            <a:endParaRPr lang="en-US" sz="1200" dirty="0"/>
          </a:p>
        </p:txBody>
      </p:sp>
      <p:sp>
        <p:nvSpPr>
          <p:cNvPr id="15" name="Shape 13"/>
          <p:cNvSpPr/>
          <p:nvPr/>
        </p:nvSpPr>
        <p:spPr>
          <a:xfrm>
            <a:off x="8229600" y="1463040"/>
            <a:ext cx="3383280" cy="1737360"/>
          </a:xfrm>
          <a:prstGeom prst="rect">
            <a:avLst/>
          </a:prstGeom>
          <a:solidFill>
            <a:srgbClr val="141417"/>
          </a:solidFill>
          <a:ln w="15875">
            <a:solidFill>
              <a:srgbClr val="3ECF6E"/>
            </a:solidFill>
            <a:prstDash val="solid"/>
          </a:ln>
        </p:spPr>
      </p:sp>
      <p:sp>
        <p:nvSpPr>
          <p:cNvPr id="16" name="Text 14"/>
          <p:cNvSpPr txBox="1"/>
          <p:nvPr/>
        </p:nvSpPr>
        <p:spPr>
          <a:xfrm>
            <a:off x="8366760" y="1325880"/>
            <a:ext cx="3108960" cy="274320"/>
          </a:xfrm>
          <a:prstGeom prst="rect">
            <a:avLst/>
          </a:prstGeom>
          <a:solidFill>
            <a:srgbClr val="0D0D0F"/>
          </a:solidFill>
          <a:ln/>
        </p:spPr>
        <p:txBody>
          <a:bodyPr wrap="square" lIns="0" tIns="0" rIns="0" bIns="0" rtlCol="0" anchor="ctr"/>
          <a:lstStyle/>
          <a:p>
            <a:pPr algn="l" indent="0" marL="0">
              <a:buNone/>
            </a:pPr>
            <a:r>
              <a:rPr lang="en-US" sz="1050" dirty="0">
                <a:solidFill>
                  <a:srgbClr val="3ECF6E"/>
                </a:solidFill>
                <a:latin typeface="Courier New" pitchFamily="34" charset="0"/>
                <a:ea typeface="Courier New" pitchFamily="34" charset="-122"/>
                <a:cs typeface="Courier New" pitchFamily="34" charset="-120"/>
              </a:rPr>
              <a:t>Test Suite Health</a:t>
            </a:r>
            <a:endParaRPr lang="en-US" sz="1050" dirty="0"/>
          </a:p>
        </p:txBody>
      </p:sp>
      <p:sp>
        <p:nvSpPr>
          <p:cNvPr id="17" name="Text 15"/>
          <p:cNvSpPr txBox="1"/>
          <p:nvPr/>
        </p:nvSpPr>
        <p:spPr>
          <a:xfrm>
            <a:off x="8229600" y="1691640"/>
            <a:ext cx="3383280" cy="731520"/>
          </a:xfrm>
          <a:prstGeom prst="rect">
            <a:avLst/>
          </a:prstGeom>
          <a:noFill/>
          <a:ln/>
        </p:spPr>
        <p:txBody>
          <a:bodyPr wrap="square" lIns="0" tIns="0" rIns="0" bIns="0" rtlCol="0" anchor="ctr"/>
          <a:lstStyle/>
          <a:p>
            <a:pPr algn="ctr" indent="0" marL="0">
              <a:buNone/>
            </a:pPr>
            <a:r>
              <a:rPr lang="en-US" sz="3200" b="1" dirty="0">
                <a:solidFill>
                  <a:srgbClr val="3ECF6E"/>
                </a:solidFill>
                <a:latin typeface="Courier New" pitchFamily="34" charset="0"/>
                <a:ea typeface="Courier New" pitchFamily="34" charset="-122"/>
                <a:cs typeface="Courier New" pitchFamily="34" charset="-120"/>
              </a:rPr>
              <a:t>182 / 182</a:t>
            </a:r>
            <a:endParaRPr lang="en-US" sz="3200" dirty="0"/>
          </a:p>
        </p:txBody>
      </p:sp>
      <p:sp>
        <p:nvSpPr>
          <p:cNvPr id="18" name="Text 16"/>
          <p:cNvSpPr txBox="1"/>
          <p:nvPr/>
        </p:nvSpPr>
        <p:spPr>
          <a:xfrm>
            <a:off x="8229600" y="2423160"/>
            <a:ext cx="3383280" cy="640080"/>
          </a:xfrm>
          <a:prstGeom prst="rect">
            <a:avLst/>
          </a:prstGeom>
          <a:noFill/>
          <a:ln/>
        </p:spPr>
        <p:txBody>
          <a:bodyPr wrap="square" lIns="0" tIns="0" rIns="0" bIns="0" rtlCol="0" anchor="ctr"/>
          <a:lstStyle/>
          <a:p>
            <a:pPr algn="ctr" indent="0" marL="0">
              <a:buNone/>
            </a:pPr>
            <a:r>
              <a:rPr lang="en-US" sz="1200" dirty="0">
                <a:solidFill>
                  <a:srgbClr val="9A9A9A"/>
                </a:solidFill>
                <a:latin typeface="Calibri" pitchFamily="34" charset="0"/>
                <a:ea typeface="Calibri" pitchFamily="34" charset="-122"/>
                <a:cs typeface="Calibri" pitchFamily="34" charset="-120"/>
              </a:rPr>
              <a:t>Passing automated tests</a:t>
            </a:r>
            <a:endParaRPr lang="en-US" sz="1200" dirty="0"/>
          </a:p>
          <a:p>
            <a:pPr algn="ctr" indent="0" marL="0">
              <a:buNone/>
            </a:pPr>
            <a:r>
              <a:rPr lang="en-US" sz="1200" dirty="0">
                <a:solidFill>
                  <a:srgbClr val="9A9A9A"/>
                </a:solidFill>
                <a:latin typeface="Calibri" pitchFamily="34" charset="0"/>
                <a:ea typeface="Calibri" pitchFamily="34" charset="-122"/>
                <a:cs typeface="Calibri" pitchFamily="34" charset="-120"/>
              </a:rPr>
              <a:t>Run time: 16.1s</a:t>
            </a:r>
            <a:endParaRPr lang="en-US" sz="1200" dirty="0"/>
          </a:p>
        </p:txBody>
      </p:sp>
      <p:sp>
        <p:nvSpPr>
          <p:cNvPr id="19" name="Shape 17"/>
          <p:cNvSpPr/>
          <p:nvPr/>
        </p:nvSpPr>
        <p:spPr>
          <a:xfrm>
            <a:off x="548640" y="3566160"/>
            <a:ext cx="11091672" cy="2468880"/>
          </a:xfrm>
          <a:prstGeom prst="rect">
            <a:avLst/>
          </a:prstGeom>
          <a:solidFill>
            <a:srgbClr val="141417"/>
          </a:solidFill>
          <a:ln w="15875">
            <a:solidFill>
              <a:srgbClr val="8A754C"/>
            </a:solidFill>
            <a:prstDash val="solid"/>
          </a:ln>
        </p:spPr>
      </p:sp>
      <p:sp>
        <p:nvSpPr>
          <p:cNvPr id="20" name="Text 18"/>
          <p:cNvSpPr txBox="1"/>
          <p:nvPr/>
        </p:nvSpPr>
        <p:spPr>
          <a:xfrm>
            <a:off x="685800" y="3429000"/>
            <a:ext cx="10817352" cy="274320"/>
          </a:xfrm>
          <a:prstGeom prst="rect">
            <a:avLst/>
          </a:prstGeom>
          <a:solidFill>
            <a:srgbClr val="0D0D0F"/>
          </a:solidFill>
          <a:ln/>
        </p:spPr>
        <p:txBody>
          <a:bodyPr wrap="square" lIns="0" tIns="0" rIns="0" bIns="0" rtlCol="0" anchor="ctr"/>
          <a:lstStyle/>
          <a:p>
            <a:pPr algn="l" indent="0" marL="0">
              <a:buNone/>
            </a:pPr>
            <a:r>
              <a:rPr lang="en-US" sz="1050" dirty="0">
                <a:solidFill>
                  <a:srgbClr val="8A754C"/>
                </a:solidFill>
                <a:latin typeface="Courier New" pitchFamily="34" charset="0"/>
                <a:ea typeface="Courier New" pitchFamily="34" charset="-122"/>
                <a:cs typeface="Courier New" pitchFamily="34" charset="-120"/>
              </a:rPr>
              <a:t>Falsification Audit Findings</a:t>
            </a:r>
            <a:endParaRPr lang="en-US" sz="1050" dirty="0"/>
          </a:p>
        </p:txBody>
      </p:sp>
      <p:sp>
        <p:nvSpPr>
          <p:cNvPr id="21" name="Text 19"/>
          <p:cNvSpPr txBox="1"/>
          <p:nvPr/>
        </p:nvSpPr>
        <p:spPr>
          <a:xfrm>
            <a:off x="777240" y="3886200"/>
            <a:ext cx="10607040" cy="2011680"/>
          </a:xfrm>
          <a:prstGeom prst="rect">
            <a:avLst/>
          </a:prstGeom>
          <a:noFill/>
          <a:ln/>
        </p:spPr>
        <p:txBody>
          <a:bodyPr wrap="square" lIns="0" tIns="0" rIns="0" bIns="0" rtlCol="0" anchor="ctr"/>
          <a:lstStyle/>
          <a:p>
            <a:pPr indent="0" marL="0">
              <a:buNone/>
            </a:pPr>
            <a:r>
              <a:rPr lang="en-US" sz="1300" dirty="0">
                <a:solidFill>
                  <a:srgbClr val="F2F2F2"/>
                </a:solidFill>
                <a:latin typeface="Calibri" pitchFamily="34" charset="0"/>
                <a:ea typeface="Calibri" pitchFamily="34" charset="-122"/>
                <a:cs typeface="Calibri" pitchFamily="34" charset="-120"/>
              </a:rPr>
              <a:t>• TF32 Truncation: Confirmed against nearest-tf32 value oracle; rounding matches round-half-even across 198k bit patterns.</a:t>
            </a:r>
            <a:endParaRPr lang="en-US" sz="1300" dirty="0"/>
          </a:p>
          <a:p>
            <a:pPr indent="0" marL="0">
              <a:buNone/>
            </a:pPr>
            <a:r>
              <a:rPr lang="en-US" sz="1300" dirty="0">
                <a:solidFill>
                  <a:srgbClr val="F2F2F2"/>
                </a:solidFill>
                <a:latin typeface="Calibri" pitchFamily="34" charset="0"/>
                <a:ea typeface="Calibri" pitchFamily="34" charset="-122"/>
                <a:cs typeface="Calibri" pitchFamily="34" charset="-120"/>
              </a:rPr>
              <a:t>• Parity Non-Vacuous: Injected 0.01% error causes instant test failure on IEEE runs; 5% fails on TF32 runs.</a:t>
            </a:r>
            <a:endParaRPr lang="en-US" sz="1300" dirty="0"/>
          </a:p>
          <a:p>
            <a:pPr indent="0" marL="0">
              <a:buNone/>
            </a:pPr>
            <a:r>
              <a:rPr lang="en-US" sz="1300" dirty="0">
                <a:solidFill>
                  <a:srgbClr val="F2F2F2"/>
                </a:solidFill>
                <a:latin typeface="Calibri" pitchFamily="34" charset="0"/>
                <a:ea typeface="Calibri" pitchFamily="34" charset="-122"/>
                <a:cs typeface="Calibri" pitchFamily="34" charset="-120"/>
              </a:rPr>
              <a:t>• Selection Fail-Closed: Corrupted schema values degrade to conservative cost models, never silent invalid instruction selection.</a:t>
            </a:r>
            <a:endParaRPr lang="en-US" sz="1300" dirty="0"/>
          </a:p>
          <a:p>
            <a:pPr indent="0" marL="0">
              <a:buNone/>
            </a:pPr>
            <a:r>
              <a:rPr lang="en-US" sz="1300" dirty="0">
                <a:solidFill>
                  <a:srgbClr val="F2F2F2"/>
                </a:solidFill>
                <a:latin typeface="Calibri" pitchFamily="34" charset="0"/>
                <a:ea typeface="Calibri" pitchFamily="34" charset="-122"/>
                <a:cs typeface="Calibri" pitchFamily="34" charset="-120"/>
              </a:rPr>
              <a:t>• Determinism: Bitwise identical assembly and emulator results across independent random seeds.</a:t>
            </a:r>
            <a:endParaRPr lang="en-US" sz="1300" dirty="0"/>
          </a:p>
          <a:p>
            <a:pPr indent="0" marL="0">
              <a:buNone/>
            </a:pPr>
            <a:r>
              <a:rPr lang="en-US" sz="1300" dirty="0">
                <a:solidFill>
                  <a:srgbClr val="F2F2F2"/>
                </a:solidFill>
                <a:latin typeface="Calibri" pitchFamily="34" charset="0"/>
                <a:ea typeface="Calibri" pitchFamily="34" charset="-122"/>
                <a:cs typeface="Calibri" pitchFamily="34" charset="-120"/>
              </a:rPr>
              <a:t>• Memory Safety: Out-of-bounds pointer accesses trigger explicit StorageError with named cause.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0F"/>
        </a:solidFill>
      </p:bgPr>
    </p:bg>
    <p:spTree>
      <p:nvGrpSpPr>
        <p:cNvPr id="1" name=""/>
        <p:cNvGrpSpPr/>
        <p:nvPr/>
      </p:nvGrpSpPr>
      <p:grpSpPr>
        <a:xfrm>
          <a:off x="0" y="0"/>
          <a:ext cx="0" cy="0"/>
          <a:chOff x="0" y="0"/>
          <a:chExt cx="0" cy="0"/>
        </a:xfrm>
      </p:grpSpPr>
      <p:sp>
        <p:nvSpPr>
          <p:cNvPr id="2" name="Shape 0"/>
          <p:cNvSpPr/>
          <p:nvPr/>
        </p:nvSpPr>
        <p:spPr>
          <a:xfrm>
            <a:off x="457200" y="256032"/>
            <a:ext cx="1508760" cy="402336"/>
          </a:xfrm>
          <a:prstGeom prst="roundRect">
            <a:avLst>
              <a:gd name="adj" fmla="val 18182"/>
            </a:avLst>
          </a:prstGeom>
          <a:solidFill>
            <a:srgbClr val="0D0D0F"/>
          </a:solidFill>
          <a:ln w="12700">
            <a:solidFill>
              <a:srgbClr val="8A754C"/>
            </a:solidFill>
            <a:prstDash val="solid"/>
          </a:ln>
        </p:spPr>
      </p:sp>
      <p:sp>
        <p:nvSpPr>
          <p:cNvPr id="3" name="Text 1"/>
          <p:cNvSpPr txBox="1"/>
          <p:nvPr/>
        </p:nvSpPr>
        <p:spPr>
          <a:xfrm>
            <a:off x="457200" y="256032"/>
            <a:ext cx="1508760" cy="402336"/>
          </a:xfrm>
          <a:prstGeom prst="rect">
            <a:avLst/>
          </a:prstGeom>
          <a:noFill/>
          <a:ln/>
        </p:spPr>
        <p:txBody>
          <a:bodyPr wrap="square" lIns="0" tIns="0" rIns="0" bIns="0" rtlCol="0" anchor="ctr"/>
          <a:lstStyle/>
          <a:p>
            <a:pPr algn="ctr" indent="0" marL="0">
              <a:buNone/>
            </a:pPr>
            <a:r>
              <a:rPr lang="en-US" sz="1150" b="1" dirty="0">
                <a:solidFill>
                  <a:srgbClr val="D9A94E"/>
                </a:solidFill>
                <a:latin typeface="Courier New" pitchFamily="34" charset="0"/>
                <a:ea typeface="Courier New" pitchFamily="34" charset="-122"/>
                <a:cs typeface="Courier New" pitchFamily="34" charset="-120"/>
              </a:rPr>
              <a:t>ValiumX</a:t>
            </a:r>
            <a:endParaRPr lang="en-US" sz="1150" dirty="0"/>
          </a:p>
        </p:txBody>
      </p:sp>
      <p:sp>
        <p:nvSpPr>
          <p:cNvPr id="4" name="Text 2"/>
          <p:cNvSpPr txBox="1"/>
          <p:nvPr/>
        </p:nvSpPr>
        <p:spPr>
          <a:xfrm>
            <a:off x="2148840" y="201168"/>
            <a:ext cx="9418320" cy="502920"/>
          </a:xfrm>
          <a:prstGeom prst="rect">
            <a:avLst/>
          </a:prstGeom>
          <a:noFill/>
          <a:ln/>
        </p:spPr>
        <p:txBody>
          <a:bodyPr wrap="square" lIns="0" tIns="0" rIns="0" bIns="0" rtlCol="0" anchor="ctr"/>
          <a:lstStyle/>
          <a:p>
            <a:pPr algn="l" indent="0" marL="0">
              <a:buNone/>
            </a:pPr>
            <a:r>
              <a:rPr lang="en-US" sz="2300" b="1" dirty="0">
                <a:solidFill>
                  <a:srgbClr val="F2F2F2"/>
                </a:solidFill>
                <a:latin typeface="Calibri" pitchFamily="34" charset="0"/>
                <a:ea typeface="Calibri" pitchFamily="34" charset="-122"/>
                <a:cs typeface="Calibri" pitchFamily="34" charset="-120"/>
              </a:rPr>
              <a:t>Honesty in engineering: current scope and next steps</a:t>
            </a:r>
            <a:endParaRPr lang="en-US" sz="2300" dirty="0"/>
          </a:p>
        </p:txBody>
      </p:sp>
      <p:sp>
        <p:nvSpPr>
          <p:cNvPr id="5" name="Text 3"/>
          <p:cNvSpPr txBox="1"/>
          <p:nvPr/>
        </p:nvSpPr>
        <p:spPr>
          <a:xfrm>
            <a:off x="11338560" y="6473952"/>
            <a:ext cx="548640"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11</a:t>
            </a:r>
            <a:endParaRPr lang="en-US" sz="1100" dirty="0"/>
          </a:p>
        </p:txBody>
      </p:sp>
      <p:sp>
        <p:nvSpPr>
          <p:cNvPr id="6" name="Text 4"/>
          <p:cNvSpPr txBox="1"/>
          <p:nvPr/>
        </p:nvSpPr>
        <p:spPr>
          <a:xfrm>
            <a:off x="548640" y="868680"/>
            <a:ext cx="11064240" cy="45720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TritonFlow is a working architectural research prototype. Here is what is solved today versus what is needed for commercial silicon tape-out.</a:t>
            </a:r>
            <a:endParaRPr lang="en-US" sz="1400" dirty="0"/>
          </a:p>
        </p:txBody>
      </p:sp>
      <p:sp>
        <p:nvSpPr>
          <p:cNvPr id="7" name="Shape 5"/>
          <p:cNvSpPr/>
          <p:nvPr/>
        </p:nvSpPr>
        <p:spPr>
          <a:xfrm>
            <a:off x="548640" y="1463040"/>
            <a:ext cx="5303520" cy="4572000"/>
          </a:xfrm>
          <a:prstGeom prst="rect">
            <a:avLst/>
          </a:prstGeom>
          <a:solidFill>
            <a:srgbClr val="141417"/>
          </a:solidFill>
          <a:ln w="15875">
            <a:solidFill>
              <a:srgbClr val="3ECF6E"/>
            </a:solidFill>
            <a:prstDash val="solid"/>
          </a:ln>
        </p:spPr>
      </p:sp>
      <p:sp>
        <p:nvSpPr>
          <p:cNvPr id="8" name="Text 6"/>
          <p:cNvSpPr txBox="1"/>
          <p:nvPr/>
        </p:nvSpPr>
        <p:spPr>
          <a:xfrm>
            <a:off x="685800" y="1325880"/>
            <a:ext cx="5029200" cy="274320"/>
          </a:xfrm>
          <a:prstGeom prst="rect">
            <a:avLst/>
          </a:prstGeom>
          <a:solidFill>
            <a:srgbClr val="0D0D0F"/>
          </a:solidFill>
          <a:ln/>
        </p:spPr>
        <p:txBody>
          <a:bodyPr wrap="square" lIns="0" tIns="0" rIns="0" bIns="0" rtlCol="0" anchor="ctr"/>
          <a:lstStyle/>
          <a:p>
            <a:pPr algn="l" indent="0" marL="0">
              <a:buNone/>
            </a:pPr>
            <a:r>
              <a:rPr lang="en-US" sz="1050" dirty="0">
                <a:solidFill>
                  <a:srgbClr val="3ECF6E"/>
                </a:solidFill>
                <a:latin typeface="Courier New" pitchFamily="34" charset="0"/>
                <a:ea typeface="Courier New" pitchFamily="34" charset="-122"/>
                <a:cs typeface="Courier New" pitchFamily="34" charset="-120"/>
              </a:rPr>
              <a:t>Solved in Prototype Today</a:t>
            </a:r>
            <a:endParaRPr lang="en-US" sz="1050" dirty="0"/>
          </a:p>
        </p:txBody>
      </p:sp>
      <p:sp>
        <p:nvSpPr>
          <p:cNvPr id="9" name="Text 7"/>
          <p:cNvSpPr txBox="1"/>
          <p:nvPr/>
        </p:nvSpPr>
        <p:spPr>
          <a:xfrm>
            <a:off x="777240" y="1783080"/>
            <a:ext cx="4846320" cy="4023360"/>
          </a:xfrm>
          <a:prstGeom prst="rect">
            <a:avLst/>
          </a:prstGeom>
          <a:noFill/>
          <a:ln/>
        </p:spPr>
        <p:txBody>
          <a:bodyPr wrap="square" lIns="0" tIns="0" rIns="0" bIns="0" rtlCol="0" anchor="ctr"/>
          <a:lstStyle/>
          <a:p>
            <a:pPr indent="0" marL="0">
              <a:buNone/>
            </a:pPr>
            <a:r>
              <a:rPr lang="en-US" sz="1300" dirty="0">
                <a:solidFill>
                  <a:srgbClr val="F2F2F2"/>
                </a:solidFill>
                <a:latin typeface="Calibri" pitchFamily="34" charset="0"/>
                <a:ea typeface="Calibri" pitchFamily="34" charset="-122"/>
                <a:cs typeface="Calibri" pitchFamily="34" charset="-120"/>
              </a:rPr>
              <a:t>• Declarative Schema Architecture: Target ISAs defined entirely in YAML without compiler code changes.</a:t>
            </a:r>
            <a:endParaRPr lang="en-US" sz="1300" dirty="0"/>
          </a:p>
          <a:p>
            <a:pPr indent="0" marL="0">
              <a:buNone/>
            </a:pPr>
            <a:endParaRPr lang="en-US" sz="1300" dirty="0"/>
          </a:p>
          <a:p>
            <a:pPr indent="0" marL="0">
              <a:buNone/>
            </a:pPr>
            <a:r>
              <a:rPr lang="en-US" sz="1300" dirty="0">
                <a:solidFill>
                  <a:srgbClr val="F2F2F2"/>
                </a:solidFill>
                <a:latin typeface="Calibri" pitchFamily="34" charset="0"/>
                <a:ea typeface="Calibri" pitchFamily="34" charset="-122"/>
                <a:cs typeface="Calibri" pitchFamily="34" charset="-120"/>
              </a:rPr>
              <a:t>• Bounded Affine Memory Recovery: Statically recovers base, rank, and strides from Triton pointer arithmetic.</a:t>
            </a:r>
            <a:endParaRPr lang="en-US" sz="1300" dirty="0"/>
          </a:p>
          <a:p>
            <a:pPr indent="0" marL="0">
              <a:buNone/>
            </a:pPr>
            <a:endParaRPr lang="en-US" sz="1300" dirty="0"/>
          </a:p>
          <a:p>
            <a:pPr indent="0" marL="0">
              <a:buNone/>
            </a:pPr>
            <a:r>
              <a:rPr lang="en-US" sz="1300" dirty="0">
                <a:solidFill>
                  <a:srgbClr val="F2F2F2"/>
                </a:solidFill>
                <a:latin typeface="Calibri" pitchFamily="34" charset="0"/>
                <a:ea typeface="Calibri" pitchFamily="34" charset="-122"/>
                <a:cs typeface="Calibri" pitchFamily="34" charset="-120"/>
              </a:rPr>
              <a:t>• Address Math Elision: Subsumes 14 scalar instructions into single hardware tile descriptors.</a:t>
            </a:r>
            <a:endParaRPr lang="en-US" sz="1300" dirty="0"/>
          </a:p>
          <a:p>
            <a:pPr indent="0" marL="0">
              <a:buNone/>
            </a:pPr>
            <a:endParaRPr lang="en-US" sz="1300" dirty="0"/>
          </a:p>
          <a:p>
            <a:pPr indent="0" marL="0">
              <a:buNone/>
            </a:pPr>
            <a:r>
              <a:rPr lang="en-US" sz="1300" dirty="0">
                <a:solidFill>
                  <a:srgbClr val="F2F2F2"/>
                </a:solidFill>
                <a:latin typeface="Calibri" pitchFamily="34" charset="0"/>
                <a:ea typeface="Calibri" pitchFamily="34" charset="-122"/>
                <a:cs typeface="Calibri" pitchFamily="34" charset="-120"/>
              </a:rPr>
              <a:t>• Fail-Closed Safety Gate: Refuses non-affine loops and unaligned memory access cleanly.</a:t>
            </a:r>
            <a:endParaRPr lang="en-US" sz="1300" dirty="0"/>
          </a:p>
          <a:p>
            <a:pPr indent="0" marL="0">
              <a:buNone/>
            </a:pPr>
            <a:endParaRPr lang="en-US" sz="1300" dirty="0"/>
          </a:p>
          <a:p>
            <a:pPr indent="0" marL="0">
              <a:buNone/>
            </a:pPr>
            <a:r>
              <a:rPr lang="en-US" sz="1300" dirty="0">
                <a:solidFill>
                  <a:srgbClr val="F2F2F2"/>
                </a:solidFill>
                <a:latin typeface="Calibri" pitchFamily="34" charset="0"/>
                <a:ea typeface="Calibri" pitchFamily="34" charset="-122"/>
                <a:cs typeface="Calibri" pitchFamily="34" charset="-120"/>
              </a:rPr>
              <a:t>• Derived TF32 Error Model: Formally bounds numerical divergence caused by hardware mantissa truncation.</a:t>
            </a:r>
            <a:endParaRPr lang="en-US" sz="1300" dirty="0"/>
          </a:p>
          <a:p>
            <a:pPr indent="0" marL="0">
              <a:buNone/>
            </a:pPr>
            <a:endParaRPr lang="en-US" sz="1300" dirty="0"/>
          </a:p>
          <a:p>
            <a:pPr indent="0" marL="0">
              <a:buNone/>
            </a:pPr>
            <a:r>
              <a:rPr lang="en-US" sz="1300" dirty="0">
                <a:solidFill>
                  <a:srgbClr val="F2F2F2"/>
                </a:solidFill>
                <a:latin typeface="Calibri" pitchFamily="34" charset="0"/>
                <a:ea typeface="Calibri" pitchFamily="34" charset="-122"/>
                <a:cs typeface="Calibri" pitchFamily="34" charset="-120"/>
              </a:rPr>
              <a:t>• PyTorch 2.x Integration: Registers cleanly as a torch.compile backend with dynamic graph extraction.</a:t>
            </a:r>
            <a:endParaRPr lang="en-US" sz="1300" dirty="0"/>
          </a:p>
        </p:txBody>
      </p:sp>
      <p:sp>
        <p:nvSpPr>
          <p:cNvPr id="10" name="Shape 8"/>
          <p:cNvSpPr/>
          <p:nvPr/>
        </p:nvSpPr>
        <p:spPr>
          <a:xfrm>
            <a:off x="6309360" y="1463040"/>
            <a:ext cx="5303520" cy="4572000"/>
          </a:xfrm>
          <a:prstGeom prst="rect">
            <a:avLst/>
          </a:prstGeom>
          <a:solidFill>
            <a:srgbClr val="141417"/>
          </a:solidFill>
          <a:ln w="15875">
            <a:solidFill>
              <a:srgbClr val="D9A94E"/>
            </a:solidFill>
            <a:prstDash val="solid"/>
          </a:ln>
        </p:spPr>
      </p:sp>
      <p:sp>
        <p:nvSpPr>
          <p:cNvPr id="11" name="Text 9"/>
          <p:cNvSpPr txBox="1"/>
          <p:nvPr/>
        </p:nvSpPr>
        <p:spPr>
          <a:xfrm>
            <a:off x="6446520" y="1325880"/>
            <a:ext cx="5029200" cy="274320"/>
          </a:xfrm>
          <a:prstGeom prst="rect">
            <a:avLst/>
          </a:prstGeom>
          <a:solidFill>
            <a:srgbClr val="0D0D0F"/>
          </a:solidFill>
          <a:ln/>
        </p:spPr>
        <p:txBody>
          <a:bodyPr wrap="square" lIns="0" tIns="0" rIns="0" bIns="0" rtlCol="0" anchor="ctr"/>
          <a:lstStyle/>
          <a:p>
            <a:pPr algn="l" indent="0" marL="0">
              <a:buNone/>
            </a:pPr>
            <a:r>
              <a:rPr lang="en-US" sz="1050" dirty="0">
                <a:solidFill>
                  <a:srgbClr val="D9A94E"/>
                </a:solidFill>
                <a:latin typeface="Courier New" pitchFamily="34" charset="0"/>
                <a:ea typeface="Courier New" pitchFamily="34" charset="-122"/>
                <a:cs typeface="Courier New" pitchFamily="34" charset="-120"/>
              </a:rPr>
              <a:t>Required for Commercial Tape-Out</a:t>
            </a:r>
            <a:endParaRPr lang="en-US" sz="1050" dirty="0"/>
          </a:p>
        </p:txBody>
      </p:sp>
      <p:sp>
        <p:nvSpPr>
          <p:cNvPr id="12" name="Text 10"/>
          <p:cNvSpPr txBox="1"/>
          <p:nvPr/>
        </p:nvSpPr>
        <p:spPr>
          <a:xfrm>
            <a:off x="6537960" y="1783080"/>
            <a:ext cx="4846320" cy="4023360"/>
          </a:xfrm>
          <a:prstGeom prst="rect">
            <a:avLst/>
          </a:prstGeom>
          <a:noFill/>
          <a:ln/>
        </p:spPr>
        <p:txBody>
          <a:bodyPr wrap="square" lIns="0" tIns="0" rIns="0" bIns="0" rtlCol="0" anchor="ctr"/>
          <a:lstStyle/>
          <a:p>
            <a:pPr indent="0" marL="0">
              <a:buNone/>
            </a:pPr>
            <a:r>
              <a:rPr lang="en-US" sz="1300" dirty="0">
                <a:solidFill>
                  <a:srgbClr val="9A9A9A"/>
                </a:solidFill>
                <a:latin typeface="Calibri" pitchFamily="34" charset="0"/>
                <a:ea typeface="Calibri" pitchFamily="34" charset="-122"/>
                <a:cs typeface="Calibri" pitchFamily="34" charset="-120"/>
              </a:rPr>
              <a:t>• C++ MLIR Dialect Pass: Replace pure-Python frontend with upstream MLIR C++ translation pass for arbitrary FlashAttention.</a:t>
            </a:r>
            <a:endParaRPr lang="en-US" sz="1300" dirty="0"/>
          </a:p>
          <a:p>
            <a:pPr indent="0" marL="0">
              <a:buNone/>
            </a:pPr>
            <a:endParaRPr lang="en-US" sz="1300" dirty="0"/>
          </a:p>
          <a:p>
            <a:pPr indent="0" marL="0">
              <a:buNone/>
            </a:pPr>
            <a:r>
              <a:rPr lang="en-US" sz="1300" dirty="0">
                <a:solidFill>
                  <a:srgbClr val="9A9A9A"/>
                </a:solidFill>
                <a:latin typeface="Calibri" pitchFamily="34" charset="0"/>
                <a:ea typeface="Calibri" pitchFamily="34" charset="-122"/>
                <a:cs typeface="Calibri" pitchFamily="34" charset="-120"/>
              </a:rPr>
              <a:t>• Chaitin-Briggs Register Allocator: Implement formal graph coloring register allocation with spilling heuristics.</a:t>
            </a:r>
            <a:endParaRPr lang="en-US" sz="1300" dirty="0"/>
          </a:p>
          <a:p>
            <a:pPr indent="0" marL="0">
              <a:buNone/>
            </a:pPr>
            <a:endParaRPr lang="en-US" sz="1300" dirty="0"/>
          </a:p>
          <a:p>
            <a:pPr indent="0" marL="0">
              <a:buNone/>
            </a:pPr>
            <a:r>
              <a:rPr lang="en-US" sz="1300" dirty="0">
                <a:solidFill>
                  <a:srgbClr val="9A9A9A"/>
                </a:solidFill>
                <a:latin typeface="Calibri" pitchFamily="34" charset="0"/>
                <a:ea typeface="Calibri" pitchFamily="34" charset="-122"/>
                <a:cs typeface="Calibri" pitchFamily="34" charset="-120"/>
              </a:rPr>
              <a:t>• Direct Binary ELF Emitter: Generate machine object files (.o) and linkable ELF binaries directly from schema.</a:t>
            </a:r>
            <a:endParaRPr lang="en-US" sz="1300" dirty="0"/>
          </a:p>
          <a:p>
            <a:pPr indent="0" marL="0">
              <a:buNone/>
            </a:pPr>
            <a:endParaRPr lang="en-US" sz="1300" dirty="0"/>
          </a:p>
          <a:p>
            <a:pPr indent="0" marL="0">
              <a:buNone/>
            </a:pPr>
            <a:r>
              <a:rPr lang="en-US" sz="1300" dirty="0">
                <a:solidFill>
                  <a:srgbClr val="9A9A9A"/>
                </a:solidFill>
                <a:latin typeface="Calibri" pitchFamily="34" charset="0"/>
                <a:ea typeface="Calibri" pitchFamily="34" charset="-122"/>
                <a:cs typeface="Calibri" pitchFamily="34" charset="-120"/>
              </a:rPr>
              <a:t>• Hardware Calibrated Emulator: Align cycle cost models with cycle-accurate Verilator RTL simulation.</a:t>
            </a:r>
            <a:endParaRPr lang="en-US" sz="1300" dirty="0"/>
          </a:p>
          <a:p>
            <a:pPr indent="0" marL="0">
              <a:buNone/>
            </a:pPr>
            <a:endParaRPr lang="en-US" sz="1300" dirty="0"/>
          </a:p>
          <a:p>
            <a:pPr indent="0" marL="0">
              <a:buNone/>
            </a:pPr>
            <a:r>
              <a:rPr lang="en-US" sz="1300" dirty="0">
                <a:solidFill>
                  <a:srgbClr val="9A9A9A"/>
                </a:solidFill>
                <a:latin typeface="Calibri" pitchFamily="34" charset="0"/>
                <a:ea typeface="Calibri" pitchFamily="34" charset="-122"/>
                <a:cs typeface="Calibri" pitchFamily="34" charset="-120"/>
              </a:rPr>
              <a:t>• C++ Loop Kernel Alignment: Fix the known loop accumulator mismatch in the C++ reference emulator.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D0F"/>
        </a:solidFill>
      </p:bgPr>
    </p:bg>
    <p:spTree>
      <p:nvGrpSpPr>
        <p:cNvPr id="1" name=""/>
        <p:cNvGrpSpPr/>
        <p:nvPr/>
      </p:nvGrpSpPr>
      <p:grpSpPr>
        <a:xfrm>
          <a:off x="0" y="0"/>
          <a:ext cx="0" cy="0"/>
          <a:chOff x="0" y="0"/>
          <a:chExt cx="0" cy="0"/>
        </a:xfrm>
      </p:grpSpPr>
      <p:sp>
        <p:nvSpPr>
          <p:cNvPr id="2" name="Shape 0"/>
          <p:cNvSpPr/>
          <p:nvPr/>
        </p:nvSpPr>
        <p:spPr>
          <a:xfrm>
            <a:off x="457200" y="256032"/>
            <a:ext cx="1508760" cy="402336"/>
          </a:xfrm>
          <a:prstGeom prst="roundRect">
            <a:avLst>
              <a:gd name="adj" fmla="val 18182"/>
            </a:avLst>
          </a:prstGeom>
          <a:solidFill>
            <a:srgbClr val="0D0D0F"/>
          </a:solidFill>
          <a:ln w="12700">
            <a:solidFill>
              <a:srgbClr val="8A754C"/>
            </a:solidFill>
            <a:prstDash val="solid"/>
          </a:ln>
        </p:spPr>
      </p:sp>
      <p:sp>
        <p:nvSpPr>
          <p:cNvPr id="3" name="Text 1"/>
          <p:cNvSpPr txBox="1"/>
          <p:nvPr/>
        </p:nvSpPr>
        <p:spPr>
          <a:xfrm>
            <a:off x="457200" y="256032"/>
            <a:ext cx="1508760" cy="402336"/>
          </a:xfrm>
          <a:prstGeom prst="rect">
            <a:avLst/>
          </a:prstGeom>
          <a:noFill/>
          <a:ln/>
        </p:spPr>
        <p:txBody>
          <a:bodyPr wrap="square" lIns="0" tIns="0" rIns="0" bIns="0" rtlCol="0" anchor="ctr"/>
          <a:lstStyle/>
          <a:p>
            <a:pPr algn="ctr" indent="0" marL="0">
              <a:buNone/>
            </a:pPr>
            <a:r>
              <a:rPr lang="en-US" sz="1150" b="1" dirty="0">
                <a:solidFill>
                  <a:srgbClr val="D9A94E"/>
                </a:solidFill>
                <a:latin typeface="Courier New" pitchFamily="34" charset="0"/>
                <a:ea typeface="Courier New" pitchFamily="34" charset="-122"/>
                <a:cs typeface="Courier New" pitchFamily="34" charset="-120"/>
              </a:rPr>
              <a:t>ValiumX</a:t>
            </a:r>
            <a:endParaRPr lang="en-US" sz="1150" dirty="0"/>
          </a:p>
        </p:txBody>
      </p:sp>
      <p:sp>
        <p:nvSpPr>
          <p:cNvPr id="4" name="Text 2"/>
          <p:cNvSpPr txBox="1"/>
          <p:nvPr/>
        </p:nvSpPr>
        <p:spPr>
          <a:xfrm>
            <a:off x="2148840" y="201168"/>
            <a:ext cx="9418320" cy="502920"/>
          </a:xfrm>
          <a:prstGeom prst="rect">
            <a:avLst/>
          </a:prstGeom>
          <a:noFill/>
          <a:ln/>
        </p:spPr>
        <p:txBody>
          <a:bodyPr wrap="square" lIns="0" tIns="0" rIns="0" bIns="0" rtlCol="0" anchor="ctr"/>
          <a:lstStyle/>
          <a:p>
            <a:pPr algn="l" indent="0" marL="0">
              <a:buNone/>
            </a:pPr>
            <a:r>
              <a:rPr lang="en-US" sz="2300" b="1" dirty="0">
                <a:solidFill>
                  <a:srgbClr val="F2F2F2"/>
                </a:solidFill>
                <a:latin typeface="Calibri" pitchFamily="34" charset="0"/>
                <a:ea typeface="Calibri" pitchFamily="34" charset="-122"/>
                <a:cs typeface="Calibri" pitchFamily="34" charset="-120"/>
              </a:rPr>
              <a:t>TritonFlow: making custom AI chips immediately programmable</a:t>
            </a:r>
            <a:endParaRPr lang="en-US" sz="2300" dirty="0"/>
          </a:p>
        </p:txBody>
      </p:sp>
      <p:sp>
        <p:nvSpPr>
          <p:cNvPr id="5" name="Text 3"/>
          <p:cNvSpPr txBox="1"/>
          <p:nvPr/>
        </p:nvSpPr>
        <p:spPr>
          <a:xfrm>
            <a:off x="11338560" y="6473952"/>
            <a:ext cx="548640"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12</a:t>
            </a:r>
            <a:endParaRPr lang="en-US" sz="1100" dirty="0"/>
          </a:p>
        </p:txBody>
      </p:sp>
      <p:sp>
        <p:nvSpPr>
          <p:cNvPr id="6" name="Text 4"/>
          <p:cNvSpPr txBox="1"/>
          <p:nvPr/>
        </p:nvSpPr>
        <p:spPr>
          <a:xfrm>
            <a:off x="548640" y="868680"/>
            <a:ext cx="11064240" cy="457200"/>
          </a:xfrm>
          <a:prstGeom prst="rect">
            <a:avLst/>
          </a:prstGeom>
          <a:noFill/>
          <a:ln/>
        </p:spPr>
        <p:txBody>
          <a:bodyPr wrap="square" lIns="0" tIns="0" rIns="0" bIns="0" rtlCol="0" anchor="ctr"/>
          <a:lstStyle/>
          <a:p>
            <a:pPr indent="0" marL="0">
              <a:buNone/>
            </a:pPr>
            <a:r>
              <a:rPr lang="en-US" sz="1450" dirty="0">
                <a:solidFill>
                  <a:srgbClr val="F2F2F2"/>
                </a:solidFill>
                <a:latin typeface="Calibri" pitchFamily="34" charset="0"/>
                <a:ea typeface="Calibri" pitchFamily="34" charset="-122"/>
                <a:cs typeface="Calibri" pitchFamily="34" charset="-120"/>
              </a:rPr>
              <a:t>Eliminating the 6-9 month compiler bottleneck for new AI accelerators through declarative schema-driven compilation.</a:t>
            </a:r>
            <a:endParaRPr lang="en-US" sz="1450" dirty="0"/>
          </a:p>
        </p:txBody>
      </p:sp>
      <p:sp>
        <p:nvSpPr>
          <p:cNvPr id="7" name="Shape 5"/>
          <p:cNvSpPr/>
          <p:nvPr/>
        </p:nvSpPr>
        <p:spPr>
          <a:xfrm>
            <a:off x="548640" y="1508760"/>
            <a:ext cx="2560320" cy="1463040"/>
          </a:xfrm>
          <a:prstGeom prst="rect">
            <a:avLst/>
          </a:prstGeom>
          <a:solidFill>
            <a:srgbClr val="141417"/>
          </a:solidFill>
          <a:ln w="15875">
            <a:solidFill>
              <a:srgbClr val="8A754C"/>
            </a:solidFill>
            <a:prstDash val="solid"/>
          </a:ln>
        </p:spPr>
      </p:sp>
      <p:sp>
        <p:nvSpPr>
          <p:cNvPr id="8" name="Text 6"/>
          <p:cNvSpPr txBox="1"/>
          <p:nvPr/>
        </p:nvSpPr>
        <p:spPr>
          <a:xfrm>
            <a:off x="548640" y="1645920"/>
            <a:ext cx="2560320" cy="640080"/>
          </a:xfrm>
          <a:prstGeom prst="rect">
            <a:avLst/>
          </a:prstGeom>
          <a:noFill/>
          <a:ln/>
        </p:spPr>
        <p:txBody>
          <a:bodyPr wrap="square" lIns="0" tIns="0" rIns="0" bIns="0" rtlCol="0" anchor="ctr"/>
          <a:lstStyle/>
          <a:p>
            <a:pPr algn="ctr" indent="0" marL="0">
              <a:buNone/>
            </a:pPr>
            <a:r>
              <a:rPr lang="en-US" sz="3200" b="1" dirty="0">
                <a:solidFill>
                  <a:srgbClr val="D9A94E"/>
                </a:solidFill>
                <a:latin typeface="Courier New" pitchFamily="34" charset="0"/>
                <a:ea typeface="Courier New" pitchFamily="34" charset="-122"/>
                <a:cs typeface="Courier New" pitchFamily="34" charset="-120"/>
              </a:rPr>
              <a:t>3</a:t>
            </a:r>
            <a:endParaRPr lang="en-US" sz="3200" dirty="0"/>
          </a:p>
        </p:txBody>
      </p:sp>
      <p:sp>
        <p:nvSpPr>
          <p:cNvPr id="9" name="Text 7"/>
          <p:cNvSpPr txBox="1"/>
          <p:nvPr/>
        </p:nvSpPr>
        <p:spPr>
          <a:xfrm>
            <a:off x="548640" y="2286000"/>
            <a:ext cx="2560320" cy="320040"/>
          </a:xfrm>
          <a:prstGeom prst="rect">
            <a:avLst/>
          </a:prstGeom>
          <a:noFill/>
          <a:ln/>
        </p:spPr>
        <p:txBody>
          <a:bodyPr wrap="square" lIns="0" tIns="0" rIns="0" bIns="0" rtlCol="0" anchor="ctr"/>
          <a:lstStyle/>
          <a:p>
            <a:pPr algn="ctr" indent="0" marL="0">
              <a:buNone/>
            </a:pPr>
            <a:r>
              <a:rPr lang="en-US" sz="1200" b="1" dirty="0">
                <a:solidFill>
                  <a:srgbClr val="F2F2F2"/>
                </a:solidFill>
                <a:latin typeface="Calibri" pitchFamily="34" charset="0"/>
                <a:ea typeface="Calibri" pitchFamily="34" charset="-122"/>
                <a:cs typeface="Calibri" pitchFamily="34" charset="-120"/>
              </a:rPr>
              <a:t>Target ISAs Supported</a:t>
            </a:r>
            <a:endParaRPr lang="en-US" sz="1200" dirty="0"/>
          </a:p>
        </p:txBody>
      </p:sp>
      <p:sp>
        <p:nvSpPr>
          <p:cNvPr id="10" name="Text 8"/>
          <p:cNvSpPr txBox="1"/>
          <p:nvPr/>
        </p:nvSpPr>
        <p:spPr>
          <a:xfrm>
            <a:off x="548640" y="2560320"/>
            <a:ext cx="2560320" cy="320040"/>
          </a:xfrm>
          <a:prstGeom prst="rect">
            <a:avLst/>
          </a:prstGeom>
          <a:noFill/>
          <a:ln/>
        </p:spPr>
        <p:txBody>
          <a:bodyPr wrap="square" lIns="0" tIns="0" rIns="0" bIns="0" rtlCol="0" anchor="ctr"/>
          <a:lstStyle/>
          <a:p>
            <a:pPr algn="ctr" indent="0" marL="0">
              <a:buNone/>
            </a:pPr>
            <a:r>
              <a:rPr lang="en-US" sz="1050" dirty="0">
                <a:solidFill>
                  <a:srgbClr val="9A9A9A"/>
                </a:solidFill>
                <a:latin typeface="Calibri" pitchFamily="34" charset="0"/>
                <a:ea typeface="Calibri" pitchFamily="34" charset="-122"/>
                <a:cs typeface="Calibri" pitchFamily="34" charset="-120"/>
              </a:rPr>
              <a:t>Systolic, Banked, SIMT</a:t>
            </a:r>
            <a:endParaRPr lang="en-US" sz="1050" dirty="0"/>
          </a:p>
        </p:txBody>
      </p:sp>
      <p:sp>
        <p:nvSpPr>
          <p:cNvPr id="11" name="Shape 9"/>
          <p:cNvSpPr/>
          <p:nvPr/>
        </p:nvSpPr>
        <p:spPr>
          <a:xfrm>
            <a:off x="3383280" y="1508760"/>
            <a:ext cx="2560320" cy="1463040"/>
          </a:xfrm>
          <a:prstGeom prst="rect">
            <a:avLst/>
          </a:prstGeom>
          <a:solidFill>
            <a:srgbClr val="141417"/>
          </a:solidFill>
          <a:ln w="15875">
            <a:solidFill>
              <a:srgbClr val="8A754C"/>
            </a:solidFill>
            <a:prstDash val="solid"/>
          </a:ln>
        </p:spPr>
      </p:sp>
      <p:sp>
        <p:nvSpPr>
          <p:cNvPr id="12" name="Text 10"/>
          <p:cNvSpPr txBox="1"/>
          <p:nvPr/>
        </p:nvSpPr>
        <p:spPr>
          <a:xfrm>
            <a:off x="3383280" y="1645920"/>
            <a:ext cx="2560320" cy="640080"/>
          </a:xfrm>
          <a:prstGeom prst="rect">
            <a:avLst/>
          </a:prstGeom>
          <a:noFill/>
          <a:ln/>
        </p:spPr>
        <p:txBody>
          <a:bodyPr wrap="square" lIns="0" tIns="0" rIns="0" bIns="0" rtlCol="0" anchor="ctr"/>
          <a:lstStyle/>
          <a:p>
            <a:pPr algn="ctr" indent="0" marL="0">
              <a:buNone/>
            </a:pPr>
            <a:r>
              <a:rPr lang="en-US" sz="3200" b="1" dirty="0">
                <a:solidFill>
                  <a:srgbClr val="D9A94E"/>
                </a:solidFill>
                <a:latin typeface="Courier New" pitchFamily="34" charset="0"/>
                <a:ea typeface="Courier New" pitchFamily="34" charset="-122"/>
                <a:cs typeface="Courier New" pitchFamily="34" charset="-120"/>
              </a:rPr>
              <a:t>0</a:t>
            </a:r>
            <a:endParaRPr lang="en-US" sz="3200" dirty="0"/>
          </a:p>
        </p:txBody>
      </p:sp>
      <p:sp>
        <p:nvSpPr>
          <p:cNvPr id="13" name="Text 11"/>
          <p:cNvSpPr txBox="1"/>
          <p:nvPr/>
        </p:nvSpPr>
        <p:spPr>
          <a:xfrm>
            <a:off x="3383280" y="2286000"/>
            <a:ext cx="2560320" cy="320040"/>
          </a:xfrm>
          <a:prstGeom prst="rect">
            <a:avLst/>
          </a:prstGeom>
          <a:noFill/>
          <a:ln/>
        </p:spPr>
        <p:txBody>
          <a:bodyPr wrap="square" lIns="0" tIns="0" rIns="0" bIns="0" rtlCol="0" anchor="ctr"/>
          <a:lstStyle/>
          <a:p>
            <a:pPr algn="ctr" indent="0" marL="0">
              <a:buNone/>
            </a:pPr>
            <a:r>
              <a:rPr lang="en-US" sz="1200" b="1" dirty="0">
                <a:solidFill>
                  <a:srgbClr val="F2F2F2"/>
                </a:solidFill>
                <a:latin typeface="Calibri" pitchFamily="34" charset="0"/>
                <a:ea typeface="Calibri" pitchFamily="34" charset="-122"/>
                <a:cs typeface="Calibri" pitchFamily="34" charset="-120"/>
              </a:rPr>
              <a:t>C++ Compiler Rewrites</a:t>
            </a:r>
            <a:endParaRPr lang="en-US" sz="1200" dirty="0"/>
          </a:p>
        </p:txBody>
      </p:sp>
      <p:sp>
        <p:nvSpPr>
          <p:cNvPr id="14" name="Text 12"/>
          <p:cNvSpPr txBox="1"/>
          <p:nvPr/>
        </p:nvSpPr>
        <p:spPr>
          <a:xfrm>
            <a:off x="3383280" y="2560320"/>
            <a:ext cx="2560320" cy="320040"/>
          </a:xfrm>
          <a:prstGeom prst="rect">
            <a:avLst/>
          </a:prstGeom>
          <a:noFill/>
          <a:ln/>
        </p:spPr>
        <p:txBody>
          <a:bodyPr wrap="square" lIns="0" tIns="0" rIns="0" bIns="0" rtlCol="0" anchor="ctr"/>
          <a:lstStyle/>
          <a:p>
            <a:pPr algn="ctr" indent="0" marL="0">
              <a:buNone/>
            </a:pPr>
            <a:r>
              <a:rPr lang="en-US" sz="1050" dirty="0">
                <a:solidFill>
                  <a:srgbClr val="9A9A9A"/>
                </a:solidFill>
                <a:latin typeface="Calibri" pitchFamily="34" charset="0"/>
                <a:ea typeface="Calibri" pitchFamily="34" charset="-122"/>
                <a:cs typeface="Calibri" pitchFamily="34" charset="-120"/>
              </a:rPr>
              <a:t>Target defined in YAML</a:t>
            </a:r>
            <a:endParaRPr lang="en-US" sz="1050" dirty="0"/>
          </a:p>
        </p:txBody>
      </p:sp>
      <p:sp>
        <p:nvSpPr>
          <p:cNvPr id="15" name="Shape 13"/>
          <p:cNvSpPr/>
          <p:nvPr/>
        </p:nvSpPr>
        <p:spPr>
          <a:xfrm>
            <a:off x="6217920" y="1508760"/>
            <a:ext cx="2560320" cy="1463040"/>
          </a:xfrm>
          <a:prstGeom prst="rect">
            <a:avLst/>
          </a:prstGeom>
          <a:solidFill>
            <a:srgbClr val="141417"/>
          </a:solidFill>
          <a:ln w="15875">
            <a:solidFill>
              <a:srgbClr val="8A754C"/>
            </a:solidFill>
            <a:prstDash val="solid"/>
          </a:ln>
        </p:spPr>
      </p:sp>
      <p:sp>
        <p:nvSpPr>
          <p:cNvPr id="16" name="Text 14"/>
          <p:cNvSpPr txBox="1"/>
          <p:nvPr/>
        </p:nvSpPr>
        <p:spPr>
          <a:xfrm>
            <a:off x="6217920" y="1645920"/>
            <a:ext cx="2560320" cy="640080"/>
          </a:xfrm>
          <a:prstGeom prst="rect">
            <a:avLst/>
          </a:prstGeom>
          <a:noFill/>
          <a:ln/>
        </p:spPr>
        <p:txBody>
          <a:bodyPr wrap="square" lIns="0" tIns="0" rIns="0" bIns="0" rtlCol="0" anchor="ctr"/>
          <a:lstStyle/>
          <a:p>
            <a:pPr algn="ctr" indent="0" marL="0">
              <a:buNone/>
            </a:pPr>
            <a:r>
              <a:rPr lang="en-US" sz="3200" b="1" dirty="0">
                <a:solidFill>
                  <a:srgbClr val="D9A94E"/>
                </a:solidFill>
                <a:latin typeface="Courier New" pitchFamily="34" charset="0"/>
                <a:ea typeface="Courier New" pitchFamily="34" charset="-122"/>
                <a:cs typeface="Courier New" pitchFamily="34" charset="-120"/>
              </a:rPr>
              <a:t>100%</a:t>
            </a:r>
            <a:endParaRPr lang="en-US" sz="3200" dirty="0"/>
          </a:p>
        </p:txBody>
      </p:sp>
      <p:sp>
        <p:nvSpPr>
          <p:cNvPr id="17" name="Text 15"/>
          <p:cNvSpPr txBox="1"/>
          <p:nvPr/>
        </p:nvSpPr>
        <p:spPr>
          <a:xfrm>
            <a:off x="6217920" y="2286000"/>
            <a:ext cx="2560320" cy="320040"/>
          </a:xfrm>
          <a:prstGeom prst="rect">
            <a:avLst/>
          </a:prstGeom>
          <a:noFill/>
          <a:ln/>
        </p:spPr>
        <p:txBody>
          <a:bodyPr wrap="square" lIns="0" tIns="0" rIns="0" bIns="0" rtlCol="0" anchor="ctr"/>
          <a:lstStyle/>
          <a:p>
            <a:pPr algn="ctr" indent="0" marL="0">
              <a:buNone/>
            </a:pPr>
            <a:r>
              <a:rPr lang="en-US" sz="1200" b="1" dirty="0">
                <a:solidFill>
                  <a:srgbClr val="F2F2F2"/>
                </a:solidFill>
                <a:latin typeface="Calibri" pitchFamily="34" charset="0"/>
                <a:ea typeface="Calibri" pitchFamily="34" charset="-122"/>
                <a:cs typeface="Calibri" pitchFamily="34" charset="-120"/>
              </a:rPr>
              <a:t>Fail-Closed Safety</a:t>
            </a:r>
            <a:endParaRPr lang="en-US" sz="1200" dirty="0"/>
          </a:p>
        </p:txBody>
      </p:sp>
      <p:sp>
        <p:nvSpPr>
          <p:cNvPr id="18" name="Text 16"/>
          <p:cNvSpPr txBox="1"/>
          <p:nvPr/>
        </p:nvSpPr>
        <p:spPr>
          <a:xfrm>
            <a:off x="6217920" y="2560320"/>
            <a:ext cx="2560320" cy="320040"/>
          </a:xfrm>
          <a:prstGeom prst="rect">
            <a:avLst/>
          </a:prstGeom>
          <a:noFill/>
          <a:ln/>
        </p:spPr>
        <p:txBody>
          <a:bodyPr wrap="square" lIns="0" tIns="0" rIns="0" bIns="0" rtlCol="0" anchor="ctr"/>
          <a:lstStyle/>
          <a:p>
            <a:pPr algn="ctr" indent="0" marL="0">
              <a:buNone/>
            </a:pPr>
            <a:r>
              <a:rPr lang="en-US" sz="1050" dirty="0">
                <a:solidFill>
                  <a:srgbClr val="9A9A9A"/>
                </a:solidFill>
                <a:latin typeface="Calibri" pitchFamily="34" charset="0"/>
                <a:ea typeface="Calibri" pitchFamily="34" charset="-122"/>
                <a:cs typeface="Calibri" pitchFamily="34" charset="-120"/>
              </a:rPr>
              <a:t>0 Silent Corruptions</a:t>
            </a:r>
            <a:endParaRPr lang="en-US" sz="1050" dirty="0"/>
          </a:p>
        </p:txBody>
      </p:sp>
      <p:sp>
        <p:nvSpPr>
          <p:cNvPr id="19" name="Shape 17"/>
          <p:cNvSpPr/>
          <p:nvPr/>
        </p:nvSpPr>
        <p:spPr>
          <a:xfrm>
            <a:off x="9052560" y="1508760"/>
            <a:ext cx="2560320" cy="1463040"/>
          </a:xfrm>
          <a:prstGeom prst="rect">
            <a:avLst/>
          </a:prstGeom>
          <a:solidFill>
            <a:srgbClr val="141417"/>
          </a:solidFill>
          <a:ln w="15875">
            <a:solidFill>
              <a:srgbClr val="8A754C"/>
            </a:solidFill>
            <a:prstDash val="solid"/>
          </a:ln>
        </p:spPr>
      </p:sp>
      <p:sp>
        <p:nvSpPr>
          <p:cNvPr id="20" name="Text 18"/>
          <p:cNvSpPr txBox="1"/>
          <p:nvPr/>
        </p:nvSpPr>
        <p:spPr>
          <a:xfrm>
            <a:off x="9052560" y="1645920"/>
            <a:ext cx="2560320" cy="640080"/>
          </a:xfrm>
          <a:prstGeom prst="rect">
            <a:avLst/>
          </a:prstGeom>
          <a:noFill/>
          <a:ln/>
        </p:spPr>
        <p:txBody>
          <a:bodyPr wrap="square" lIns="0" tIns="0" rIns="0" bIns="0" rtlCol="0" anchor="ctr"/>
          <a:lstStyle/>
          <a:p>
            <a:pPr algn="ctr" indent="0" marL="0">
              <a:buNone/>
            </a:pPr>
            <a:r>
              <a:rPr lang="en-US" sz="3200" b="1" dirty="0">
                <a:solidFill>
                  <a:srgbClr val="D9A94E"/>
                </a:solidFill>
                <a:latin typeface="Courier New" pitchFamily="34" charset="0"/>
                <a:ea typeface="Courier New" pitchFamily="34" charset="-122"/>
                <a:cs typeface="Courier New" pitchFamily="34" charset="-120"/>
              </a:rPr>
              <a:t>182/182</a:t>
            </a:r>
            <a:endParaRPr lang="en-US" sz="3200" dirty="0"/>
          </a:p>
        </p:txBody>
      </p:sp>
      <p:sp>
        <p:nvSpPr>
          <p:cNvPr id="21" name="Text 19"/>
          <p:cNvSpPr txBox="1"/>
          <p:nvPr/>
        </p:nvSpPr>
        <p:spPr>
          <a:xfrm>
            <a:off x="9052560" y="2286000"/>
            <a:ext cx="2560320" cy="320040"/>
          </a:xfrm>
          <a:prstGeom prst="rect">
            <a:avLst/>
          </a:prstGeom>
          <a:noFill/>
          <a:ln/>
        </p:spPr>
        <p:txBody>
          <a:bodyPr wrap="square" lIns="0" tIns="0" rIns="0" bIns="0" rtlCol="0" anchor="ctr"/>
          <a:lstStyle/>
          <a:p>
            <a:pPr algn="ctr" indent="0" marL="0">
              <a:buNone/>
            </a:pPr>
            <a:r>
              <a:rPr lang="en-US" sz="1200" b="1" dirty="0">
                <a:solidFill>
                  <a:srgbClr val="F2F2F2"/>
                </a:solidFill>
                <a:latin typeface="Calibri" pitchFamily="34" charset="0"/>
                <a:ea typeface="Calibri" pitchFamily="34" charset="-122"/>
                <a:cs typeface="Calibri" pitchFamily="34" charset="-120"/>
              </a:rPr>
              <a:t>Automated Tests Pass</a:t>
            </a:r>
            <a:endParaRPr lang="en-US" sz="1200" dirty="0"/>
          </a:p>
        </p:txBody>
      </p:sp>
      <p:sp>
        <p:nvSpPr>
          <p:cNvPr id="22" name="Text 20"/>
          <p:cNvSpPr txBox="1"/>
          <p:nvPr/>
        </p:nvSpPr>
        <p:spPr>
          <a:xfrm>
            <a:off x="9052560" y="2560320"/>
            <a:ext cx="2560320" cy="320040"/>
          </a:xfrm>
          <a:prstGeom prst="rect">
            <a:avLst/>
          </a:prstGeom>
          <a:noFill/>
          <a:ln/>
        </p:spPr>
        <p:txBody>
          <a:bodyPr wrap="square" lIns="0" tIns="0" rIns="0" bIns="0" rtlCol="0" anchor="ctr"/>
          <a:lstStyle/>
          <a:p>
            <a:pPr algn="ctr" indent="0" marL="0">
              <a:buNone/>
            </a:pPr>
            <a:r>
              <a:rPr lang="en-US" sz="1050" dirty="0">
                <a:solidFill>
                  <a:srgbClr val="9A9A9A"/>
                </a:solidFill>
                <a:latin typeface="Calibri" pitchFamily="34" charset="0"/>
                <a:ea typeface="Calibri" pitchFamily="34" charset="-122"/>
                <a:cs typeface="Calibri" pitchFamily="34" charset="-120"/>
              </a:rPr>
              <a:t>Zero mutant survivors</a:t>
            </a:r>
            <a:endParaRPr lang="en-US" sz="1050" dirty="0"/>
          </a:p>
        </p:txBody>
      </p:sp>
      <p:sp>
        <p:nvSpPr>
          <p:cNvPr id="23" name="Shape 21"/>
          <p:cNvSpPr/>
          <p:nvPr/>
        </p:nvSpPr>
        <p:spPr>
          <a:xfrm>
            <a:off x="548640" y="3337560"/>
            <a:ext cx="11091672" cy="2560320"/>
          </a:xfrm>
          <a:prstGeom prst="rect">
            <a:avLst/>
          </a:prstGeom>
          <a:solidFill>
            <a:srgbClr val="141417"/>
          </a:solidFill>
          <a:ln w="15875">
            <a:solidFill>
              <a:srgbClr val="3ECF6E"/>
            </a:solidFill>
            <a:prstDash val="solid"/>
          </a:ln>
        </p:spPr>
      </p:sp>
      <p:sp>
        <p:nvSpPr>
          <p:cNvPr id="24" name="Text 22"/>
          <p:cNvSpPr txBox="1"/>
          <p:nvPr/>
        </p:nvSpPr>
        <p:spPr>
          <a:xfrm>
            <a:off x="685800" y="3200400"/>
            <a:ext cx="10817352" cy="274320"/>
          </a:xfrm>
          <a:prstGeom prst="rect">
            <a:avLst/>
          </a:prstGeom>
          <a:solidFill>
            <a:srgbClr val="0D0D0F"/>
          </a:solidFill>
          <a:ln/>
        </p:spPr>
        <p:txBody>
          <a:bodyPr wrap="square" lIns="0" tIns="0" rIns="0" bIns="0" rtlCol="0" anchor="ctr"/>
          <a:lstStyle/>
          <a:p>
            <a:pPr algn="l" indent="0" marL="0">
              <a:buNone/>
            </a:pPr>
            <a:r>
              <a:rPr lang="en-US" sz="1050" dirty="0">
                <a:solidFill>
                  <a:srgbClr val="3ECF6E"/>
                </a:solidFill>
                <a:latin typeface="Courier New" pitchFamily="34" charset="0"/>
                <a:ea typeface="Courier New" pitchFamily="34" charset="-122"/>
                <a:cs typeface="Courier New" pitchFamily="34" charset="-120"/>
              </a:rPr>
              <a:t>Core Takeaway</a:t>
            </a:r>
            <a:endParaRPr lang="en-US" sz="1050" dirty="0"/>
          </a:p>
        </p:txBody>
      </p:sp>
      <p:sp>
        <p:nvSpPr>
          <p:cNvPr id="25" name="Text 23"/>
          <p:cNvSpPr txBox="1"/>
          <p:nvPr/>
        </p:nvSpPr>
        <p:spPr>
          <a:xfrm>
            <a:off x="822960" y="3703320"/>
            <a:ext cx="10515600" cy="1645920"/>
          </a:xfrm>
          <a:prstGeom prst="rect">
            <a:avLst/>
          </a:prstGeom>
          <a:noFill/>
          <a:ln/>
        </p:spPr>
        <p:txBody>
          <a:bodyPr wrap="square" lIns="0" tIns="0" rIns="0" bIns="0" rtlCol="0" anchor="ctr"/>
          <a:lstStyle/>
          <a:p>
            <a:pPr indent="0" marL="0">
              <a:buNone/>
            </a:pPr>
            <a:r>
              <a:rPr lang="en-US" sz="1500" dirty="0">
                <a:solidFill>
                  <a:srgbClr val="F2F2F2"/>
                </a:solidFill>
                <a:latin typeface="Calibri" pitchFamily="34" charset="0"/>
                <a:ea typeface="Calibri" pitchFamily="34" charset="-122"/>
                <a:cs typeface="Calibri" pitchFamily="34" charset="-120"/>
              </a:rPr>
              <a:t>Describe the chip in YAML. The compiler does the rest.</a:t>
            </a:r>
            <a:endParaRPr lang="en-US" sz="1500" dirty="0"/>
          </a:p>
          <a:p>
            <a:pPr indent="0" marL="0">
              <a:buNone/>
            </a:pPr>
            <a:endParaRPr lang="en-US" sz="1500" dirty="0"/>
          </a:p>
          <a:p>
            <a:pPr indent="0" marL="0">
              <a:buNone/>
            </a:pPr>
            <a:r>
              <a:rPr lang="en-US" sz="1500" dirty="0">
                <a:solidFill>
                  <a:srgbClr val="F2F2F2"/>
                </a:solidFill>
                <a:latin typeface="Calibri" pitchFamily="34" charset="0"/>
                <a:ea typeface="Calibri" pitchFamily="34" charset="-122"/>
                <a:cs typeface="Calibri" pitchFamily="34" charset="-120"/>
              </a:rPr>
              <a:t>• Hardware teams define opcodes, tiles, and memory costs in a single declarative file.</a:t>
            </a:r>
            <a:endParaRPr lang="en-US" sz="1500" dirty="0"/>
          </a:p>
          <a:p>
            <a:pPr indent="0" marL="0">
              <a:buNone/>
            </a:pPr>
            <a:r>
              <a:rPr lang="en-US" sz="1500" dirty="0">
                <a:solidFill>
                  <a:srgbClr val="F2F2F2"/>
                </a:solidFill>
                <a:latin typeface="Calibri" pitchFamily="34" charset="0"/>
                <a:ea typeface="Calibri" pitchFamily="34" charset="-122"/>
                <a:cs typeface="Calibri" pitchFamily="34" charset="-120"/>
              </a:rPr>
              <a:t>• TritonFlow recovers affine memory descriptors and lowers PyTorch kernels to custom silicon in hours.</a:t>
            </a:r>
            <a:endParaRPr lang="en-US" sz="1500" dirty="0"/>
          </a:p>
          <a:p>
            <a:pPr indent="0" marL="0">
              <a:buNone/>
            </a:pPr>
            <a:r>
              <a:rPr lang="en-US" sz="1500" dirty="0">
                <a:solidFill>
                  <a:srgbClr val="F2F2F2"/>
                </a:solidFill>
                <a:latin typeface="Calibri" pitchFamily="34" charset="0"/>
                <a:ea typeface="Calibri" pitchFamily="34" charset="-122"/>
                <a:cs typeface="Calibri" pitchFamily="34" charset="-120"/>
              </a:rPr>
              <a:t>• Verified numerical tolerances and fail-closed safety protect model integrity from day one.</a:t>
            </a:r>
            <a:endParaRPr lang="en-US" sz="1500" dirty="0"/>
          </a:p>
        </p:txBody>
      </p:sp>
      <p:sp>
        <p:nvSpPr>
          <p:cNvPr id="26" name="Text 24"/>
          <p:cNvSpPr txBox="1"/>
          <p:nvPr/>
        </p:nvSpPr>
        <p:spPr>
          <a:xfrm>
            <a:off x="548640" y="6217920"/>
            <a:ext cx="11091672" cy="320040"/>
          </a:xfrm>
          <a:prstGeom prst="rect">
            <a:avLst/>
          </a:prstGeom>
          <a:noFill/>
          <a:ln/>
        </p:spPr>
        <p:txBody>
          <a:bodyPr wrap="square" lIns="0" tIns="0" rIns="0" bIns="0" rtlCol="0" anchor="ctr"/>
          <a:lstStyle/>
          <a:p>
            <a:pPr algn="ctr" indent="0" marL="0">
              <a:buNone/>
            </a:pPr>
            <a:r>
              <a:rPr lang="en-US" sz="1200" dirty="0">
                <a:solidFill>
                  <a:srgbClr val="D9A94E"/>
                </a:solidFill>
                <a:latin typeface="Courier New" pitchFamily="34" charset="0"/>
                <a:ea typeface="Courier New" pitchFamily="34" charset="-122"/>
                <a:cs typeface="Courier New" pitchFamily="34" charset="-120"/>
              </a:rPr>
              <a:t>Team ValiumX | TritonFlow</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2026-09-18T18:04:51Z</dcterms:created>
  <dcterms:modified xsi:type="dcterms:W3CDTF">2026-09-18T18:04:51Z</dcterms:modified>
</cp:coreProperties>
</file>